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9cddfe9856d4949" /><Relationship Type="http://schemas.openxmlformats.org/officeDocument/2006/relationships/extended-properties" Target="/docProps/app.xml" Id="R64cbef77c8b54b23" /><Relationship Type="http://schemas.openxmlformats.org/officeDocument/2006/relationships/officeDocument" Target="/ppt/presentation.xml" Id="Re9c5a92a96ee43b0" /></Relationships>
</file>

<file path=ppt/presentation.xml><?xml version="1.0" encoding="utf-8"?>
<p:presentation xmlns:p="http://schemas.openxmlformats.org/presentationml/2006/main">
  <p:sldMasterIdLst>
    <p:sldMasterId xmlns:r="http://schemas.openxmlformats.org/officeDocument/2006/relationships" id="2147483648" r:id="Radb42a11f3404266"/>
  </p:sldMasterIdLst>
  <p:notesMasterIdLst>
    <p:notesMasterId xmlns:r="http://schemas.openxmlformats.org/officeDocument/2006/relationships" r:id="Rb5a700b15a264ab8"/>
  </p:notesMasterIdLst>
  <p:sldIdLst>
    <p:sldId xmlns:r="http://schemas.openxmlformats.org/officeDocument/2006/relationships" id="256" r:id="R2c9dcb3ae9444aa9"/>
    <p:sldId xmlns:r="http://schemas.openxmlformats.org/officeDocument/2006/relationships" id="257" r:id="R6d41b6778dc04310"/>
    <p:sldId xmlns:r="http://schemas.openxmlformats.org/officeDocument/2006/relationships" id="258" r:id="R420f548c8a494f7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c3d3aa7b7e646e3" /><Relationship Type="http://schemas.openxmlformats.org/officeDocument/2006/relationships/slideMaster" Target="/ppt/slideMasters/slideMaster1.xml" Id="Radb42a11f3404266" /><Relationship Type="http://schemas.openxmlformats.org/officeDocument/2006/relationships/notesMaster" Target="/ppt/notesMasters/notesMaster1.xml" Id="Rb5a700b15a264ab8" /><Relationship Type="http://schemas.openxmlformats.org/officeDocument/2006/relationships/presProps" Target="/ppt/presProps.xml" Id="R4fe1b76bb59f461b" /><Relationship Type="http://schemas.openxmlformats.org/officeDocument/2006/relationships/tableStyles" Target="/ppt/tableStyles.xml" Id="R1cfc186d2c3945c1" /><Relationship Type="http://schemas.openxmlformats.org/officeDocument/2006/relationships/slide" Target="/ppt/slides/slide1.xml" Id="R2c9dcb3ae9444aa9" /><Relationship Type="http://schemas.openxmlformats.org/officeDocument/2006/relationships/slide" Target="/ppt/slides/slide2.xml" Id="R6d41b6778dc04310" /><Relationship Type="http://schemas.openxmlformats.org/officeDocument/2006/relationships/slide" Target="/ppt/slides/slide3.xml" Id="R420f548c8a494f7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aae1eb1089c49d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6c82aeba89c4919" /><Relationship Type="http://schemas.openxmlformats.org/officeDocument/2006/relationships/notesMaster" Target="/ppt/notesMasters/notesMaster1.xml" Id="Rd9ddc1f99bcf4407" /></Relationships>
</file>

<file path=ppt/notesSlides/_rels/notesSlide2.xml.rels>&#65279;<?xml version="1.0" encoding="utf-8"?><Relationships xmlns="http://schemas.openxmlformats.org/package/2006/relationships"><Relationship Type="http://schemas.openxmlformats.org/officeDocument/2006/relationships/slide" Target="/ppt/slides/slide2.xml" Id="Re1982b5d90004ebb" /><Relationship Type="http://schemas.openxmlformats.org/officeDocument/2006/relationships/notesMaster" Target="/ppt/notesMasters/notesMaster1.xml" Id="Rfa14350d47014394" /></Relationships>
</file>

<file path=ppt/notesSlides/_rels/notesSlide3.xml.rels>&#65279;<?xml version="1.0" encoding="utf-8"?><Relationships xmlns="http://schemas.openxmlformats.org/package/2006/relationships"><Relationship Type="http://schemas.openxmlformats.org/officeDocument/2006/relationships/slide" Target="/ppt/slides/slide3.xml" Id="R9e954ec9382f4c6d" /><Relationship Type="http://schemas.openxmlformats.org/officeDocument/2006/relationships/notesMaster" Target="/ppt/notesMasters/notesMaster1.xml" Id="Rada1ecb612e3406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duration: 25 seconds</a:t>
            </a:r>
          </a:p>
          <a:p xmlns:a="http://schemas.openxmlformats.org/drawingml/2006/main">
            <a:r>
              <a:t/>
            </a:r>
          </a:p>
          <a:p xmlns:a="http://schemas.openxmlformats.org/drawingml/2006/main">
            <a:r>
              <a:t>An operator of a portable solar and battery system needs more than a current power reading. They need to understand how much additional load might be reasonable later, and why. My capstone, the DragonWings Power Availability Profile Forecaster, turns real local telemetry into a twelve-hour estimate of additional solar power.</a:t>
            </a:r>
          </a:p>
          <a:p xmlns:a="http://schemas.openxmlformats.org/drawingml/2006/main">
            <a:r>
              <a:t/>
            </a:r>
          </a:p>
          <a:p xmlns:a="http://schemas.openxmlformats.org/drawingml/2006/main">
            <a:r>
              <a:t>Evidence</a:t>
            </a:r>
          </a:p>
          <a:p xmlns:a="http://schemas.openxmlformats.org/drawingml/2006/main">
            <a:r>
              <a:t>R1: https://github.com/roboyak/PAP-Agent/blob/aa61ba7f1e5fe87c90b7182ea8ba82e1cdc94ca5/README.md</a:t>
            </a:r>
          </a:p>
          <a:p xmlns:a="http://schemas.openxmlformats.org/drawingml/2006/main">
            <a:r>
              <a:t/>
            </a:r>
          </a:p>
          <a:p xmlns:a="http://schemas.openxmlformats.org/drawingml/2006/main">
            <a:r>
              <a:t>Design reference: user-supplied DragonWings_Bounded_Power_Architecture.pdf and DragonWings_Bounded_Power_Forecasting.pptx. Cover illustration: generated conceptual solar and battery blueprint. Console screenshot: actual local Playwright run, September 7,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duration: 35 seconds</a:t>
            </a:r>
          </a:p>
          <a:p xmlns:a="http://schemas.openxmlformats.org/drawingml/2006/main">
            <a:r>
              <a:t/>
            </a:r>
          </a:p>
          <a:p xmlns:a="http://schemas.openxmlformats.org/drawingml/2006/main">
            <a:r>
              <a:t>It uses a durable workflow, searchable memory, and bounded language-model roles to explain uncertain cases. Ordinary code owns the calculations and validation. The models cannot change the battery voltage floor or command equipment. Six inspection views show the evidence, tool calls, memory, model outputs, and stopping decisions. That makes a published result, or a decision to withhold it, something an engineer can inspect and debug.</a:t>
            </a:r>
          </a:p>
          <a:p xmlns:a="http://schemas.openxmlformats.org/drawingml/2006/main">
            <a:r>
              <a:t/>
            </a:r>
          </a:p>
          <a:p xmlns:a="http://schemas.openxmlformats.org/drawingml/2006/main">
            <a:r>
              <a:t>Evidence</a:t>
            </a:r>
          </a:p>
          <a:p xmlns:a="http://schemas.openxmlformats.org/drawingml/2006/main">
            <a:r>
              <a:t>R1: https://github.com/roboyak/PAP-Agent/blob/aa61ba7f1e5fe87c90b7182ea8ba82e1cdc94ca5/README.md</a:t>
            </a:r>
          </a:p>
          <a:p xmlns:a="http://schemas.openxmlformats.org/drawingml/2006/main">
            <a:r>
              <a:t>R2: https://github.com/roboyak/PAP-Agent/blob/aa61ba7f1e5fe87c90b7182ea8ba82e1cdc94ca5/docs/architecture/FINAL_MVP.md</a:t>
            </a:r>
          </a:p>
          <a:p xmlns:a="http://schemas.openxmlformats.org/drawingml/2006/main">
            <a:r>
              <a:t/>
            </a:r>
          </a:p>
          <a:p xmlns:a="http://schemas.openxmlformats.org/drawingml/2006/main">
            <a:r>
              <a:t>Design reference: user-supplied DragonWings_Bounded_Power_Architecture.pdf and DragonWings_Bounded_Power_Forecasting.pptx. Cover illustration: generated conceptual solar and battery blueprint. Console screenshot: actual local Playwright run, September 7,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duration: 30 seconds</a:t>
            </a:r>
          </a:p>
          <a:p xmlns:a="http://schemas.openxmlformats.org/drawingml/2006/main">
            <a:r>
              <a:t/>
            </a:r>
          </a:p>
          <a:p xmlns:a="http://schemas.openxmlformats.org/drawingml/2006/main">
            <a:r>
              <a:t>The local gate passed forty-four unit and integration tests plus thirteen browser checks. One live comparison kept the same power calculation while the third agent added latency without a demonstrated quality benefit. The forecast still uses synthetic weather factors and needs broader evaluation. My takeaway is that useful agent autonomy needs clear authority and visible evidence. DragonWings PAP makes that boundary concrete in a working local system.</a:t>
            </a:r>
          </a:p>
          <a:p xmlns:a="http://schemas.openxmlformats.org/drawingml/2006/main">
            <a:r>
              <a:t/>
            </a:r>
          </a:p>
          <a:p xmlns:a="http://schemas.openxmlformats.org/drawingml/2006/main">
            <a:r>
              <a:t>Evidence</a:t>
            </a:r>
          </a:p>
          <a:p xmlns:a="http://schemas.openxmlformats.org/drawingml/2006/main">
            <a:r>
              <a:t>R5: https://github.com/roboyak/PAP-Agent/blob/aa61ba7f1e5fe87c90b7182ea8ba82e1cdc94ca5/docs/pr/PR-11.md</a:t>
            </a:r>
          </a:p>
          <a:p xmlns:a="http://schemas.openxmlformats.org/drawingml/2006/main">
            <a:r>
              <a:t>R8: https://github.com/roboyak/PAP-Agent/blob/aa61ba7f1e5fe87c90b7182ea8ba82e1cdc94ca5/docs/pr/PR-15.md</a:t>
            </a:r>
          </a:p>
          <a:p xmlns:a="http://schemas.openxmlformats.org/drawingml/2006/main">
            <a:r>
              <a:t/>
            </a:r>
          </a:p>
          <a:p xmlns:a="http://schemas.openxmlformats.org/drawingml/2006/main">
            <a:r>
              <a:t>Design reference: user-supplied DragonWings_Bounded_Power_Architecture.pdf and DragonWings_Bounded_Power_Forecasting.pptx. Cover illustration: generated conceptual solar and battery blueprint. Console screenshot: actual local Playwright run, September 7,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d2ab39aa24f48e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701435f5d79451c" /><Relationship Type="http://schemas.openxmlformats.org/officeDocument/2006/relationships/slideLayout" Target="/ppt/slideLayouts/slideLayout1.xml" Id="R508f72d67e2d4c8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08f72d67e2d4c8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377ddb9a7124670" /><Relationship Type="http://schemas.openxmlformats.org/officeDocument/2006/relationships/image" Target="/ppt/media/image.png" Id="R4a7d89aa0a5e43a8" /><Relationship Type="http://schemas.openxmlformats.org/officeDocument/2006/relationships/notesSlide" Target="/ppt/notesSlides/notesSlide1.xml" Id="Recbf2773c3844ec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5a3720f402c42d7" /><Relationship Type="http://schemas.openxmlformats.org/officeDocument/2006/relationships/notesSlide" Target="/ppt/notesSlides/notesSlide2.xml" Id="R3c0551b22677473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a31dc2c88464647" /><Relationship Type="http://schemas.openxmlformats.org/officeDocument/2006/relationships/notesSlide" Target="/ppt/notesSlides/notesSlide3.xml" Id="R31b913256d60436e" /></Relationships>
</file>

<file path=ppt/slides/slide1.xml><?xml version="1.0" encoding="utf-8"?>
<p:sld xmlns:p="http://schemas.openxmlformats.org/presentationml/2006/main">
  <p:cSld>
    <p:bg>
      <p:bgPr>
        <a:solidFill xmlns:a="http://schemas.openxmlformats.org/drawingml/2006/main">
          <a:srgbClr val="0B1823"/>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a7d89aa0a5e43a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313969A-A6C4-4150-8271-020BC6FC9010}"/>
              </a:ext>
            </a:extLst>
          </p:cNvPr>
          <p:cNvSpPr>
            <a:spLocks xmlns:a="http://schemas.openxmlformats.org/drawingml/2006/main" noGrp="1"/>
          </p:cNvSpPr>
          <p:nvPr/>
        </p:nvSpPr>
        <p:spPr>
          <a:xfrm xmlns:a="http://schemas.openxmlformats.org/drawingml/2006/main">
            <a:off x="609600" y="3048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82D4E5"/>
                </a:solidFill>
                <a:latin typeface="Arial"/>
                <a:ea typeface="Arial"/>
                <a:cs typeface="Arial"/>
              </a:defRPr>
            </a:pPr>
            <a:r>
              <a:rPr sz="1275" b="0">
                <a:solidFill>
                  <a:srgbClr val="82D4E5"/>
                </a:solidFill>
                <a:latin typeface="Arial"/>
                <a:ea typeface="Arial"/>
                <a:cs typeface="Arial"/>
              </a:rPr>
              <a:t>DragonWings PAP   Optional 90-second pitch</a:t>
            </a:r>
          </a:p>
        </p:txBody>
      </p:sp>
      <p:sp>
        <p:nvSpPr>
          <p:cNvPr id="3" name="">
            <a:extLst xmlns:a="http://schemas.openxmlformats.org/drawingml/2006/main">
              <a:ext uri="{FF2B5EF4-FFF2-40B4-BE49-F238E27FC236}">
                <a16:creationId xmlns:a16="http://schemas.microsoft.com/office/drawing/2014/main" id="{932CAD91-F822-4EB9-BC9C-A3F4E3B6A8F6}"/>
              </a:ext>
            </a:extLst>
          </p:cNvPr>
          <p:cNvSpPr>
            <a:spLocks xmlns:a="http://schemas.openxmlformats.org/drawingml/2006/main" noGrp="1"/>
          </p:cNvSpPr>
          <p:nvPr/>
        </p:nvSpPr>
        <p:spPr>
          <a:xfrm xmlns:a="http://schemas.openxmlformats.org/drawingml/2006/main">
            <a:off x="10953750" y="6553200"/>
            <a:ext cx="628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B4C9D5"/>
                </a:solidFill>
                <a:latin typeface="Arial"/>
                <a:ea typeface="Arial"/>
                <a:cs typeface="Arial"/>
              </a:defRPr>
            </a:pPr>
            <a:r>
              <a:rPr sz="1050" b="0">
                <a:solidFill>
                  <a:srgbClr val="B4C9D5"/>
                </a:solidFill>
                <a:latin typeface="Arial"/>
                <a:ea typeface="Arial"/>
                <a:cs typeface="Arial"/>
              </a:rPr>
              <a:t>1 / 3</a:t>
            </a:r>
          </a:p>
        </p:txBody>
      </p:sp>
      <p:sp>
        <p:nvSpPr>
          <p:cNvPr id="4" name="">
            <a:extLst xmlns:a="http://schemas.openxmlformats.org/drawingml/2006/main">
              <a:ext uri="{FF2B5EF4-FFF2-40B4-BE49-F238E27FC236}">
                <a16:creationId xmlns:a16="http://schemas.microsoft.com/office/drawing/2014/main" id="{BFDD9D01-D525-4AFA-98D7-60A2C8BC4AA6}"/>
              </a:ext>
            </a:extLst>
          </p:cNvPr>
          <p:cNvSpPr>
            <a:spLocks xmlns:a="http://schemas.openxmlformats.org/drawingml/2006/main" noGrp="1"/>
          </p:cNvSpPr>
          <p:nvPr/>
        </p:nvSpPr>
        <p:spPr>
          <a:xfrm xmlns:a="http://schemas.openxmlformats.org/drawingml/2006/main">
            <a:off x="609600" y="1676400"/>
            <a:ext cx="76200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F2F7FA"/>
                </a:solidFill>
                <a:latin typeface="Arial"/>
                <a:ea typeface="Arial"/>
                <a:cs typeface="Arial"/>
              </a:defRPr>
            </a:pPr>
            <a:r>
              <a:rPr sz="4800" b="1">
                <a:solidFill>
                  <a:srgbClr val="F2F7FA"/>
                </a:solidFill>
                <a:latin typeface="Arial"/>
                <a:ea typeface="Arial"/>
                <a:cs typeface="Arial"/>
              </a:rPr>
              <a:t>Planning extra load</a:t>
            </a:r>
          </a:p>
          <a:p xmlns:a="http://schemas.openxmlformats.org/drawingml/2006/main">
            <a:pPr algn="l">
              <a:defRPr sz="4800" b="1">
                <a:solidFill>
                  <a:srgbClr val="F2F7FA"/>
                </a:solidFill>
                <a:latin typeface="Arial"/>
                <a:ea typeface="Arial"/>
                <a:cs typeface="Arial"/>
              </a:defRPr>
            </a:pPr>
            <a:r>
              <a:rPr sz="4800" b="1">
                <a:solidFill>
                  <a:srgbClr val="F2F7FA"/>
                </a:solidFill>
                <a:latin typeface="Arial"/>
                <a:ea typeface="Arial"/>
                <a:cs typeface="Arial"/>
              </a:rPr>
              <a:t>needs more than</a:t>
            </a:r>
          </a:p>
          <a:p xmlns:a="http://schemas.openxmlformats.org/drawingml/2006/main">
            <a:pPr algn="l">
              <a:defRPr sz="4800" b="1">
                <a:solidFill>
                  <a:srgbClr val="F2F7FA"/>
                </a:solidFill>
                <a:latin typeface="Arial"/>
                <a:ea typeface="Arial"/>
                <a:cs typeface="Arial"/>
              </a:defRPr>
            </a:pPr>
            <a:r>
              <a:rPr sz="4800" b="1">
                <a:solidFill>
                  <a:srgbClr val="F2F7FA"/>
                </a:solidFill>
                <a:latin typeface="Arial"/>
                <a:ea typeface="Arial"/>
                <a:cs typeface="Arial"/>
              </a:rPr>
              <a:t>a live reading</a:t>
            </a:r>
          </a:p>
        </p:txBody>
      </p:sp>
      <p:sp>
        <p:nvSpPr>
          <p:cNvPr id="5" name="">
            <a:extLst xmlns:a="http://schemas.openxmlformats.org/drawingml/2006/main">
              <a:ext uri="{FF2B5EF4-FFF2-40B4-BE49-F238E27FC236}">
                <a16:creationId xmlns:a16="http://schemas.microsoft.com/office/drawing/2014/main" id="{B1FAA834-69FD-44A7-828B-0FAEF01A018C}"/>
              </a:ext>
            </a:extLst>
          </p:cNvPr>
          <p:cNvSpPr>
            <a:spLocks xmlns:a="http://schemas.openxmlformats.org/drawingml/2006/main" noGrp="1"/>
          </p:cNvSpPr>
          <p:nvPr/>
        </p:nvSpPr>
        <p:spPr>
          <a:xfrm xmlns:a="http://schemas.openxmlformats.org/drawingml/2006/main">
            <a:off x="609600" y="4410075"/>
            <a:ext cx="70008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82D4E5"/>
                </a:solidFill>
                <a:latin typeface="Arial"/>
                <a:ea typeface="Arial"/>
                <a:cs typeface="Arial"/>
              </a:defRPr>
            </a:pPr>
            <a:r>
              <a:rPr sz="2550" b="0">
                <a:solidFill>
                  <a:srgbClr val="82D4E5"/>
                </a:solidFill>
                <a:latin typeface="Arial"/>
                <a:ea typeface="Arial"/>
                <a:cs typeface="Arial"/>
              </a:rPr>
              <a:t>A power forecast with evidence an operator can inspect</a:t>
            </a:r>
          </a:p>
        </p:txBody>
      </p:sp>
      <p:sp>
        <p:nvSpPr>
          <p:cNvPr id="6" name="">
            <a:extLst xmlns:a="http://schemas.openxmlformats.org/drawingml/2006/main">
              <a:ext uri="{FF2B5EF4-FFF2-40B4-BE49-F238E27FC236}">
                <a16:creationId xmlns:a16="http://schemas.microsoft.com/office/drawing/2014/main" id="{3CE79009-9A13-417A-A62F-053261CBDCE9}"/>
              </a:ext>
            </a:extLst>
          </p:cNvPr>
          <p:cNvSpPr>
            <a:spLocks xmlns:a="http://schemas.openxmlformats.org/drawingml/2006/main" noGrp="1"/>
          </p:cNvSpPr>
          <p:nvPr/>
        </p:nvSpPr>
        <p:spPr>
          <a:xfrm xmlns:a="http://schemas.openxmlformats.org/drawingml/2006/main">
            <a:off x="609600" y="6096000"/>
            <a:ext cx="666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2F7FA"/>
                </a:solidFill>
                <a:latin typeface="Arial"/>
                <a:ea typeface="Arial"/>
                <a:cs typeface="Arial"/>
              </a:defRPr>
            </a:pPr>
            <a:r>
              <a:rPr sz="1875" b="0">
                <a:solidFill>
                  <a:srgbClr val="F2F7FA"/>
                </a:solidFill>
                <a:latin typeface="Arial"/>
                <a:ea typeface="Arial"/>
                <a:cs typeface="Arial"/>
              </a:rPr>
              <a:t>Shawn Cunningham</a:t>
            </a:r>
          </a:p>
        </p:txBody>
      </p:sp>
    </p:spTree>
    <p:extLst>
      <p:ext uri="{BB962C8B-B14F-4D97-AF65-F5344CB8AC3E}">
        <p14:creationId xmlns:p14="http://schemas.microsoft.com/office/powerpoint/2010/main" val="2046820633"/>
      </p:ext>
    </p:extLst>
  </p:cSld>
</p:sld>
</file>

<file path=ppt/slides/slide2.xml><?xml version="1.0" encoding="utf-8"?>
<p:sld xmlns:p="http://schemas.openxmlformats.org/presentationml/2006/main">
  <p:cSld>
    <p:bg>
      <p:bgPr>
        <a:solidFill xmlns:a="http://schemas.openxmlformats.org/drawingml/2006/main">
          <a:srgbClr val="0B1823"/>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BC3456E-9600-43DF-9747-22C644931DAE}"/>
              </a:ext>
            </a:extLst>
          </p:cNvPr>
          <p:cNvSpPr>
            <a:spLocks xmlns:a="http://schemas.openxmlformats.org/drawingml/2006/main" noGrp="1"/>
          </p:cNvSpPr>
          <p:nvPr/>
        </p:nvSpPr>
        <p:spPr>
          <a:xfrm xmlns:a="http://schemas.openxmlformats.org/drawingml/2006/main">
            <a:off x="609600" y="3048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82D4E5"/>
                </a:solidFill>
                <a:latin typeface="Arial"/>
                <a:ea typeface="Arial"/>
                <a:cs typeface="Arial"/>
              </a:defRPr>
            </a:pPr>
            <a:r>
              <a:rPr sz="1275" b="0">
                <a:solidFill>
                  <a:srgbClr val="82D4E5"/>
                </a:solidFill>
                <a:latin typeface="Arial"/>
                <a:ea typeface="Arial"/>
                <a:cs typeface="Arial"/>
              </a:rPr>
              <a:t>How it works</a:t>
            </a:r>
          </a:p>
        </p:txBody>
      </p:sp>
      <p:sp>
        <p:nvSpPr>
          <p:cNvPr id="2" name="">
            <a:extLst xmlns:a="http://schemas.openxmlformats.org/drawingml/2006/main">
              <a:ext uri="{FF2B5EF4-FFF2-40B4-BE49-F238E27FC236}">
                <a16:creationId xmlns:a16="http://schemas.microsoft.com/office/drawing/2014/main" id="{E3ADF1DB-E81C-479C-BC53-0A3941BC51A2}"/>
              </a:ext>
            </a:extLst>
          </p:cNvPr>
          <p:cNvSpPr>
            <a:spLocks xmlns:a="http://schemas.openxmlformats.org/drawingml/2006/main" noGrp="1"/>
          </p:cNvSpPr>
          <p:nvPr/>
        </p:nvSpPr>
        <p:spPr>
          <a:xfrm xmlns:a="http://schemas.openxmlformats.org/drawingml/2006/main">
            <a:off x="609600" y="7239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F2F7FA"/>
                </a:solidFill>
                <a:latin typeface="Arial"/>
                <a:ea typeface="Arial"/>
                <a:cs typeface="Arial"/>
              </a:defRPr>
            </a:pPr>
            <a:r>
              <a:rPr sz="3225" b="1">
                <a:solidFill>
                  <a:srgbClr val="F2F7FA"/>
                </a:solidFill>
                <a:latin typeface="Arial"/>
                <a:ea typeface="Arial"/>
                <a:cs typeface="Arial"/>
              </a:rPr>
              <a:t>An agent with clear limits</a:t>
            </a:r>
          </a:p>
        </p:txBody>
      </p:sp>
      <p:sp>
        <p:nvSpPr>
          <p:cNvPr id="3" name="">
            <a:extLst xmlns:a="http://schemas.openxmlformats.org/drawingml/2006/main">
              <a:ext uri="{FF2B5EF4-FFF2-40B4-BE49-F238E27FC236}">
                <a16:creationId xmlns:a16="http://schemas.microsoft.com/office/drawing/2014/main" id="{925123DC-D7A9-4E8A-B3B6-13FCDB3CC3A0}"/>
              </a:ext>
            </a:extLst>
          </p:cNvPr>
          <p:cNvSpPr>
            <a:spLocks xmlns:a="http://schemas.openxmlformats.org/drawingml/2006/main" noGrp="1"/>
          </p:cNvSpPr>
          <p:nvPr/>
        </p:nvSpPr>
        <p:spPr>
          <a:xfrm xmlns:a="http://schemas.openxmlformats.org/drawingml/2006/main">
            <a:off x="10953750" y="6553200"/>
            <a:ext cx="628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B4C9D5"/>
                </a:solidFill>
                <a:latin typeface="Arial"/>
                <a:ea typeface="Arial"/>
                <a:cs typeface="Arial"/>
              </a:defRPr>
            </a:pPr>
            <a:r>
              <a:rPr sz="1050" b="0">
                <a:solidFill>
                  <a:srgbClr val="B4C9D5"/>
                </a:solidFill>
                <a:latin typeface="Arial"/>
                <a:ea typeface="Arial"/>
                <a:cs typeface="Arial"/>
              </a:rPr>
              <a:t>2 / 3</a:t>
            </a:r>
          </a:p>
        </p:txBody>
      </p:sp>
      <p:sp>
        <p:nvSpPr>
          <p:cNvPr id="4" name="">
            <a:extLst xmlns:a="http://schemas.openxmlformats.org/drawingml/2006/main">
              <a:ext uri="{FF2B5EF4-FFF2-40B4-BE49-F238E27FC236}">
                <a16:creationId xmlns:a16="http://schemas.microsoft.com/office/drawing/2014/main" id="{BD5CA67F-E83A-4EE6-A180-1CE4A5ACEBF6}"/>
              </a:ext>
            </a:extLst>
          </p:cNvPr>
          <p:cNvSpPr>
            <a:spLocks xmlns:a="http://schemas.openxmlformats.org/drawingml/2006/main" noGrp="1"/>
          </p:cNvSpPr>
          <p:nvPr/>
        </p:nvSpPr>
        <p:spPr>
          <a:xfrm xmlns:a="http://schemas.openxmlformats.org/drawingml/2006/main">
            <a:off x="609600" y="2305050"/>
            <a:ext cx="2238375" cy="1295400"/>
          </a:xfrm>
          <a:prstGeom xmlns:a="http://schemas.openxmlformats.org/drawingml/2006/main" prst="rect">
            <a:avLst/>
          </a:prstGeom>
          <a:solidFill xmlns:a="http://schemas.openxmlformats.org/drawingml/2006/main">
            <a:srgbClr val="102C3D"/>
          </a:solidFill>
          <a:ln xmlns:a="http://schemas.openxmlformats.org/drawingml/2006/main" w="15240">
            <a:solidFill>
              <a:srgbClr val="82D4E5"/>
            </a:solidFill>
          </a:ln>
        </p:spPr>
        <p:txBody>
          <a:bodyPr xmlns:a="http://schemas.openxmlformats.org/drawingml/2006/main" wrap="square" lIns="114300" tIns="114300" rIns="114300" bIns="114300" anchor="ctr">
            <a:noAutofit/>
          </a:bodyPr>
          <a:lstStyle xmlns:a="http://schemas.openxmlformats.org/drawingml/2006/main"/>
          <a:p xmlns:a="http://schemas.openxmlformats.org/drawingml/2006/main">
            <a:pPr algn="ctr">
              <a:defRPr sz="2325">
                <a:solidFill>
                  <a:srgbClr val="F2F7FA"/>
                </a:solidFill>
                <a:latin typeface="Arial"/>
                <a:ea typeface="Arial"/>
                <a:cs typeface="Arial"/>
              </a:defRPr>
            </a:pPr>
            <a:r>
              <a:rPr sz="2325">
                <a:solidFill>
                  <a:srgbClr val="F2F7FA"/>
                </a:solidFill>
                <a:latin typeface="Arial"/>
                <a:ea typeface="Arial"/>
                <a:cs typeface="Arial"/>
              </a:rPr>
              <a:t>Read fresh</a:t>
            </a:r>
          </a:p>
          <a:p xmlns:a="http://schemas.openxmlformats.org/drawingml/2006/main">
            <a:pPr algn="ctr">
              <a:defRPr sz="2325">
                <a:solidFill>
                  <a:srgbClr val="F2F7FA"/>
                </a:solidFill>
                <a:latin typeface="Arial"/>
                <a:ea typeface="Arial"/>
                <a:cs typeface="Arial"/>
              </a:defRPr>
            </a:pPr>
            <a:r>
              <a:rPr sz="2325">
                <a:solidFill>
                  <a:srgbClr val="F2F7FA"/>
                </a:solidFill>
                <a:latin typeface="Arial"/>
                <a:ea typeface="Arial"/>
                <a:cs typeface="Arial"/>
              </a:rPr>
              <a:t>telemetry</a:t>
            </a:r>
          </a:p>
        </p:txBody>
      </p:sp>
      <p:sp>
        <p:nvSpPr>
          <p:cNvPr id="5" name="">
            <a:extLst xmlns:a="http://schemas.openxmlformats.org/drawingml/2006/main">
              <a:ext uri="{FF2B5EF4-FFF2-40B4-BE49-F238E27FC236}">
                <a16:creationId xmlns:a16="http://schemas.microsoft.com/office/drawing/2014/main" id="{2484C547-B563-49FA-A530-5A5ADA4121AF}"/>
              </a:ext>
            </a:extLst>
          </p:cNvPr>
          <p:cNvSpPr>
            <a:spLocks xmlns:a="http://schemas.openxmlformats.org/drawingml/2006/main" noGrp="1"/>
          </p:cNvSpPr>
          <p:nvPr/>
        </p:nvSpPr>
        <p:spPr>
          <a:xfrm xmlns:a="http://schemas.openxmlformats.org/drawingml/2006/main">
            <a:off x="3505200" y="2305050"/>
            <a:ext cx="2238375" cy="1295400"/>
          </a:xfrm>
          <a:prstGeom xmlns:a="http://schemas.openxmlformats.org/drawingml/2006/main" prst="rect">
            <a:avLst/>
          </a:prstGeom>
          <a:solidFill xmlns:a="http://schemas.openxmlformats.org/drawingml/2006/main">
            <a:srgbClr val="102C3D"/>
          </a:solidFill>
          <a:ln xmlns:a="http://schemas.openxmlformats.org/drawingml/2006/main" w="15240">
            <a:solidFill>
              <a:srgbClr val="82D4E5"/>
            </a:solidFill>
          </a:ln>
        </p:spPr>
        <p:txBody>
          <a:bodyPr xmlns:a="http://schemas.openxmlformats.org/drawingml/2006/main" wrap="square" lIns="114300" tIns="114300" rIns="114300" bIns="114300" anchor="ctr">
            <a:noAutofit/>
          </a:bodyPr>
          <a:lstStyle xmlns:a="http://schemas.openxmlformats.org/drawingml/2006/main"/>
          <a:p xmlns:a="http://schemas.openxmlformats.org/drawingml/2006/main">
            <a:pPr algn="ctr">
              <a:defRPr sz="2325">
                <a:solidFill>
                  <a:srgbClr val="F2F7FA"/>
                </a:solidFill>
                <a:latin typeface="Arial"/>
                <a:ea typeface="Arial"/>
                <a:cs typeface="Arial"/>
              </a:defRPr>
            </a:pPr>
            <a:r>
              <a:rPr sz="2325">
                <a:solidFill>
                  <a:srgbClr val="F2F7FA"/>
                </a:solidFill>
                <a:latin typeface="Arial"/>
                <a:ea typeface="Arial"/>
                <a:cs typeface="Arial"/>
              </a:rPr>
              <a:t>Calculate</a:t>
            </a:r>
          </a:p>
          <a:p xmlns:a="http://schemas.openxmlformats.org/drawingml/2006/main">
            <a:pPr algn="ctr">
              <a:defRPr sz="2325">
                <a:solidFill>
                  <a:srgbClr val="F2F7FA"/>
                </a:solidFill>
                <a:latin typeface="Arial"/>
                <a:ea typeface="Arial"/>
                <a:cs typeface="Arial"/>
              </a:defRPr>
            </a:pPr>
            <a:r>
              <a:rPr sz="2325">
                <a:solidFill>
                  <a:srgbClr val="F2F7FA"/>
                </a:solidFill>
                <a:latin typeface="Arial"/>
                <a:ea typeface="Arial"/>
                <a:cs typeface="Arial"/>
              </a:rPr>
              <a:t>solar surplus</a:t>
            </a:r>
          </a:p>
        </p:txBody>
      </p:sp>
      <p:sp>
        <p:nvSpPr>
          <p:cNvPr id="6" name="">
            <a:extLst xmlns:a="http://schemas.openxmlformats.org/drawingml/2006/main">
              <a:ext uri="{FF2B5EF4-FFF2-40B4-BE49-F238E27FC236}">
                <a16:creationId xmlns:a16="http://schemas.microsoft.com/office/drawing/2014/main" id="{FF4D6FA5-3F87-423A-BA21-0F8626FF4ECD}"/>
              </a:ext>
            </a:extLst>
          </p:cNvPr>
          <p:cNvSpPr>
            <a:spLocks xmlns:a="http://schemas.openxmlformats.org/drawingml/2006/main" noGrp="1"/>
          </p:cNvSpPr>
          <p:nvPr/>
        </p:nvSpPr>
        <p:spPr>
          <a:xfrm xmlns:a="http://schemas.openxmlformats.org/drawingml/2006/main">
            <a:off x="6400800" y="2305050"/>
            <a:ext cx="2238375" cy="1295400"/>
          </a:xfrm>
          <a:prstGeom xmlns:a="http://schemas.openxmlformats.org/drawingml/2006/main" prst="rect">
            <a:avLst/>
          </a:prstGeom>
          <a:solidFill xmlns:a="http://schemas.openxmlformats.org/drawingml/2006/main">
            <a:srgbClr val="102C3D"/>
          </a:solidFill>
          <a:ln xmlns:a="http://schemas.openxmlformats.org/drawingml/2006/main" w="15240">
            <a:solidFill>
              <a:srgbClr val="E8B362"/>
            </a:solidFill>
          </a:ln>
        </p:spPr>
        <p:txBody>
          <a:bodyPr xmlns:a="http://schemas.openxmlformats.org/drawingml/2006/main" wrap="square" lIns="114300" tIns="114300" rIns="114300" bIns="114300" anchor="ctr">
            <a:noAutofit/>
          </a:bodyPr>
          <a:lstStyle xmlns:a="http://schemas.openxmlformats.org/drawingml/2006/main"/>
          <a:p xmlns:a="http://schemas.openxmlformats.org/drawingml/2006/main">
            <a:pPr algn="ctr">
              <a:defRPr sz="2325">
                <a:solidFill>
                  <a:srgbClr val="F2F7FA"/>
                </a:solidFill>
                <a:latin typeface="Arial"/>
                <a:ea typeface="Arial"/>
                <a:cs typeface="Arial"/>
              </a:defRPr>
            </a:pPr>
            <a:r>
              <a:rPr sz="2325">
                <a:solidFill>
                  <a:srgbClr val="F2F7FA"/>
                </a:solidFill>
                <a:latin typeface="Arial"/>
                <a:ea typeface="Arial"/>
                <a:cs typeface="Arial"/>
              </a:rPr>
              <a:t>Interpret</a:t>
            </a:r>
          </a:p>
          <a:p xmlns:a="http://schemas.openxmlformats.org/drawingml/2006/main">
            <a:pPr algn="ctr">
              <a:defRPr sz="2325">
                <a:solidFill>
                  <a:srgbClr val="F2F7FA"/>
                </a:solidFill>
                <a:latin typeface="Arial"/>
                <a:ea typeface="Arial"/>
                <a:cs typeface="Arial"/>
              </a:defRPr>
            </a:pPr>
            <a:r>
              <a:rPr sz="2325">
                <a:solidFill>
                  <a:srgbClr val="F2F7FA"/>
                </a:solidFill>
                <a:latin typeface="Arial"/>
                <a:ea typeface="Arial"/>
                <a:cs typeface="Arial"/>
              </a:rPr>
              <a:t>with evidence</a:t>
            </a:r>
          </a:p>
        </p:txBody>
      </p:sp>
      <p:sp>
        <p:nvSpPr>
          <p:cNvPr id="7" name="">
            <a:extLst xmlns:a="http://schemas.openxmlformats.org/drawingml/2006/main">
              <a:ext uri="{FF2B5EF4-FFF2-40B4-BE49-F238E27FC236}">
                <a16:creationId xmlns:a16="http://schemas.microsoft.com/office/drawing/2014/main" id="{4A4DBCE8-B68F-4CD3-A288-45C1F428B479}"/>
              </a:ext>
            </a:extLst>
          </p:cNvPr>
          <p:cNvSpPr>
            <a:spLocks xmlns:a="http://schemas.openxmlformats.org/drawingml/2006/main" noGrp="1"/>
          </p:cNvSpPr>
          <p:nvPr/>
        </p:nvSpPr>
        <p:spPr>
          <a:xfrm xmlns:a="http://schemas.openxmlformats.org/drawingml/2006/main">
            <a:off x="9296400" y="2305050"/>
            <a:ext cx="2238375" cy="1295400"/>
          </a:xfrm>
          <a:prstGeom xmlns:a="http://schemas.openxmlformats.org/drawingml/2006/main" prst="rect">
            <a:avLst/>
          </a:prstGeom>
          <a:solidFill xmlns:a="http://schemas.openxmlformats.org/drawingml/2006/main">
            <a:srgbClr val="102C3D"/>
          </a:solidFill>
          <a:ln xmlns:a="http://schemas.openxmlformats.org/drawingml/2006/main" w="15240">
            <a:solidFill>
              <a:srgbClr val="EE8883"/>
            </a:solidFill>
          </a:ln>
        </p:spPr>
        <p:txBody>
          <a:bodyPr xmlns:a="http://schemas.openxmlformats.org/drawingml/2006/main" wrap="square" lIns="114300" tIns="114300" rIns="114300" bIns="114300" anchor="ctr">
            <a:noAutofit/>
          </a:bodyPr>
          <a:lstStyle xmlns:a="http://schemas.openxmlformats.org/drawingml/2006/main"/>
          <a:p xmlns:a="http://schemas.openxmlformats.org/drawingml/2006/main">
            <a:pPr algn="ctr">
              <a:defRPr sz="2325">
                <a:solidFill>
                  <a:srgbClr val="F2F7FA"/>
                </a:solidFill>
                <a:latin typeface="Arial"/>
                <a:ea typeface="Arial"/>
                <a:cs typeface="Arial"/>
              </a:defRPr>
            </a:pPr>
            <a:r>
              <a:rPr sz="2325">
                <a:solidFill>
                  <a:srgbClr val="F2F7FA"/>
                </a:solidFill>
                <a:latin typeface="Arial"/>
                <a:ea typeface="Arial"/>
                <a:cs typeface="Arial"/>
              </a:rPr>
              <a:t>Publish</a:t>
            </a:r>
          </a:p>
          <a:p xmlns:a="http://schemas.openxmlformats.org/drawingml/2006/main">
            <a:pPr algn="ctr">
              <a:defRPr sz="2325">
                <a:solidFill>
                  <a:srgbClr val="F2F7FA"/>
                </a:solidFill>
                <a:latin typeface="Arial"/>
                <a:ea typeface="Arial"/>
                <a:cs typeface="Arial"/>
              </a:defRPr>
            </a:pPr>
            <a:r>
              <a:rPr sz="2325">
                <a:solidFill>
                  <a:srgbClr val="F2F7FA"/>
                </a:solidFill>
                <a:latin typeface="Arial"/>
                <a:ea typeface="Arial"/>
                <a:cs typeface="Arial"/>
              </a:rPr>
              <a:t>or withhold</a:t>
            </a:r>
          </a:p>
        </p:txBody>
      </p: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a:off x="2847975" y="2952750"/>
            <a:ext cx="657225" cy="0"/>
          </a:xfrm>
          <a:prstGeom xmlns:a="http://schemas.openxmlformats.org/drawingml/2006/main" prst="straightConnector1">
            <a:avLst/>
          </a:prstGeom>
          <a:ln xmlns:a="http://schemas.openxmlformats.org/drawingml/2006/main" w="19050">
            <a:solidFill>
              <a:srgbClr val="82D4E5"/>
            </a:solidFill>
            <a:prstDash val="solid"/>
            <a:tailEnd type="triangle" w="med" len="med"/>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5743575" y="2952750"/>
            <a:ext cx="657225" cy="0"/>
          </a:xfrm>
          <a:prstGeom xmlns:a="http://schemas.openxmlformats.org/drawingml/2006/main" prst="straightConnector1">
            <a:avLst/>
          </a:prstGeom>
          <a:ln xmlns:a="http://schemas.openxmlformats.org/drawingml/2006/main" w="19050">
            <a:solidFill>
              <a:srgbClr val="82D4E5"/>
            </a:solidFill>
            <a:prstDash val="solid"/>
            <a:tailEnd type="triangle" w="med" len="med"/>
          </a:ln>
        </p:spPr>
      </p:cxnSp>
      <p:cxnSp>
        <p:nvCxnSpPr>
          <p:cNvPr id="22" name=""/>
          <p:cNvCxnSpPr>
            <a:stCxn xmlns:a="http://schemas.openxmlformats.org/drawingml/2006/main" id="6" idx="3"/>
            <a:endCxn xmlns:a="http://schemas.openxmlformats.org/drawingml/2006/main" id="7" idx="1"/>
          </p:cNvCxnSpPr>
          <p:nvPr/>
        </p:nvCxnSpPr>
        <p:spPr>
          <a:xfrm xmlns:a="http://schemas.openxmlformats.org/drawingml/2006/main">
            <a:off x="8639175" y="2952750"/>
            <a:ext cx="657225" cy="0"/>
          </a:xfrm>
          <a:prstGeom xmlns:a="http://schemas.openxmlformats.org/drawingml/2006/main" prst="straightConnector1">
            <a:avLst/>
          </a:prstGeom>
          <a:ln xmlns:a="http://schemas.openxmlformats.org/drawingml/2006/main" w="19050">
            <a:solidFill>
              <a:srgbClr val="EE8883"/>
            </a:solidFill>
            <a:prstDash val="solid"/>
            <a:tailEnd type="triangle" w="med" len="med"/>
          </a:ln>
        </p:spPr>
      </p:cxnSp>
      <p:sp>
        <p:nvSpPr>
          <p:cNvPr id="11" name="">
            <a:extLst xmlns:a="http://schemas.openxmlformats.org/drawingml/2006/main">
              <a:ext uri="{FF2B5EF4-FFF2-40B4-BE49-F238E27FC236}">
                <a16:creationId xmlns:a16="http://schemas.microsoft.com/office/drawing/2014/main" id="{11032270-20F9-4A08-8A08-1F3BF89C84DA}"/>
              </a:ext>
            </a:extLst>
          </p:cNvPr>
          <p:cNvSpPr>
            <a:spLocks xmlns:a="http://schemas.openxmlformats.org/drawingml/2006/main" noGrp="1"/>
          </p:cNvSpPr>
          <p:nvPr/>
        </p:nvSpPr>
        <p:spPr>
          <a:xfrm xmlns:a="http://schemas.openxmlformats.org/drawingml/2006/main">
            <a:off x="609600" y="44005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F2F7FA"/>
                </a:solidFill>
                <a:latin typeface="Arial"/>
                <a:ea typeface="Arial"/>
                <a:cs typeface="Arial"/>
              </a:defRPr>
            </a:pPr>
            <a:r>
              <a:rPr sz="2775" b="1">
                <a:solidFill>
                  <a:srgbClr val="F2F7FA"/>
                </a:solidFill>
                <a:latin typeface="Arial"/>
                <a:ea typeface="Arial"/>
                <a:cs typeface="Arial"/>
              </a:rPr>
              <a:t>Code owns the numbers. Models explain uncertain cases.</a:t>
            </a:r>
          </a:p>
        </p:txBody>
      </p:sp>
      <p:sp>
        <p:nvSpPr>
          <p:cNvPr id="12" name="">
            <a:extLst xmlns:a="http://schemas.openxmlformats.org/drawingml/2006/main">
              <a:ext uri="{FF2B5EF4-FFF2-40B4-BE49-F238E27FC236}">
                <a16:creationId xmlns:a16="http://schemas.microsoft.com/office/drawing/2014/main" id="{3BB1C224-125F-4AB3-9086-6793EC6CAD9F}"/>
              </a:ext>
            </a:extLst>
          </p:cNvPr>
          <p:cNvSpPr>
            <a:spLocks xmlns:a="http://schemas.openxmlformats.org/drawingml/2006/main" noGrp="1"/>
          </p:cNvSpPr>
          <p:nvPr/>
        </p:nvSpPr>
        <p:spPr>
          <a:xfrm xmlns:a="http://schemas.openxmlformats.org/drawingml/2006/main">
            <a:off x="609600" y="583882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B4C9D5"/>
                </a:solidFill>
                <a:latin typeface="Arial"/>
                <a:ea typeface="Arial"/>
                <a:cs typeface="Arial"/>
              </a:defRPr>
            </a:pPr>
            <a:r>
              <a:rPr sz="2025" b="0">
                <a:solidFill>
                  <a:srgbClr val="B4C9D5"/>
                </a:solidFill>
                <a:latin typeface="Arial"/>
                <a:ea typeface="Arial"/>
                <a:cs typeface="Arial"/>
              </a:rPr>
              <a:t>Read-only guidance. Every equipment action stays with the operator.</a:t>
            </a:r>
          </a:p>
        </p:txBody>
      </p:sp>
    </p:spTree>
    <p:extLst>
      <p:ext uri="{BB962C8B-B14F-4D97-AF65-F5344CB8AC3E}">
        <p14:creationId xmlns:p14="http://schemas.microsoft.com/office/powerpoint/2010/main" val="1639094115"/>
      </p:ext>
    </p:extLst>
  </p:cSld>
</p:sld>
</file>

<file path=ppt/slides/slide3.xml><?xml version="1.0" encoding="utf-8"?>
<p:sld xmlns:p="http://schemas.openxmlformats.org/presentationml/2006/main">
  <p:cSld>
    <p:bg>
      <p:bgPr>
        <a:solidFill xmlns:a="http://schemas.openxmlformats.org/drawingml/2006/main">
          <a:srgbClr val="0B1823"/>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10F5B05-9A93-4233-8F6A-AC64465E656E}"/>
              </a:ext>
            </a:extLst>
          </p:cNvPr>
          <p:cNvSpPr>
            <a:spLocks xmlns:a="http://schemas.openxmlformats.org/drawingml/2006/main" noGrp="1"/>
          </p:cNvSpPr>
          <p:nvPr/>
        </p:nvSpPr>
        <p:spPr>
          <a:xfrm xmlns:a="http://schemas.openxmlformats.org/drawingml/2006/main">
            <a:off x="609600" y="3048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82D4E5"/>
                </a:solidFill>
                <a:latin typeface="Arial"/>
                <a:ea typeface="Arial"/>
                <a:cs typeface="Arial"/>
              </a:defRPr>
            </a:pPr>
            <a:r>
              <a:rPr sz="1275" b="0">
                <a:solidFill>
                  <a:srgbClr val="82D4E5"/>
                </a:solidFill>
                <a:latin typeface="Arial"/>
                <a:ea typeface="Arial"/>
                <a:cs typeface="Arial"/>
              </a:rPr>
              <a:t>What the MVP demonstrates</a:t>
            </a:r>
          </a:p>
        </p:txBody>
      </p:sp>
      <p:sp>
        <p:nvSpPr>
          <p:cNvPr id="2" name="">
            <a:extLst xmlns:a="http://schemas.openxmlformats.org/drawingml/2006/main">
              <a:ext uri="{FF2B5EF4-FFF2-40B4-BE49-F238E27FC236}">
                <a16:creationId xmlns:a16="http://schemas.microsoft.com/office/drawing/2014/main" id="{A84CDB18-DFB0-4183-B9F6-3B759D719BA8}"/>
              </a:ext>
            </a:extLst>
          </p:cNvPr>
          <p:cNvSpPr>
            <a:spLocks xmlns:a="http://schemas.openxmlformats.org/drawingml/2006/main" noGrp="1"/>
          </p:cNvSpPr>
          <p:nvPr/>
        </p:nvSpPr>
        <p:spPr>
          <a:xfrm xmlns:a="http://schemas.openxmlformats.org/drawingml/2006/main">
            <a:off x="609600" y="7239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F2F7FA"/>
                </a:solidFill>
                <a:latin typeface="Arial"/>
                <a:ea typeface="Arial"/>
                <a:cs typeface="Arial"/>
              </a:defRPr>
            </a:pPr>
            <a:r>
              <a:rPr sz="3225" b="1">
                <a:solidFill>
                  <a:srgbClr val="F2F7FA"/>
                </a:solidFill>
                <a:latin typeface="Arial"/>
                <a:ea typeface="Arial"/>
                <a:cs typeface="Arial"/>
              </a:rPr>
              <a:t>A working foundation</a:t>
            </a:r>
          </a:p>
          <a:p xmlns:a="http://schemas.openxmlformats.org/drawingml/2006/main">
            <a:pPr algn="l">
              <a:defRPr sz="3225" b="1">
                <a:solidFill>
                  <a:srgbClr val="F2F7FA"/>
                </a:solidFill>
                <a:latin typeface="Arial"/>
                <a:ea typeface="Arial"/>
                <a:cs typeface="Arial"/>
              </a:defRPr>
            </a:pPr>
            <a:r>
              <a:rPr sz="3225" b="1">
                <a:solidFill>
                  <a:srgbClr val="F2F7FA"/>
                </a:solidFill>
                <a:latin typeface="Arial"/>
                <a:ea typeface="Arial"/>
                <a:cs typeface="Arial"/>
              </a:rPr>
              <a:t>for measured improvement</a:t>
            </a:r>
          </a:p>
        </p:txBody>
      </p:sp>
      <p:sp>
        <p:nvSpPr>
          <p:cNvPr id="3" name="">
            <a:extLst xmlns:a="http://schemas.openxmlformats.org/drawingml/2006/main">
              <a:ext uri="{FF2B5EF4-FFF2-40B4-BE49-F238E27FC236}">
                <a16:creationId xmlns:a16="http://schemas.microsoft.com/office/drawing/2014/main" id="{4073BD37-F263-40E0-8B76-49E4C20167E0}"/>
              </a:ext>
            </a:extLst>
          </p:cNvPr>
          <p:cNvSpPr>
            <a:spLocks xmlns:a="http://schemas.openxmlformats.org/drawingml/2006/main" noGrp="1"/>
          </p:cNvSpPr>
          <p:nvPr/>
        </p:nvSpPr>
        <p:spPr>
          <a:xfrm xmlns:a="http://schemas.openxmlformats.org/drawingml/2006/main">
            <a:off x="10953750" y="6553200"/>
            <a:ext cx="628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B4C9D5"/>
                </a:solidFill>
                <a:latin typeface="Arial"/>
                <a:ea typeface="Arial"/>
                <a:cs typeface="Arial"/>
              </a:defRPr>
            </a:pPr>
            <a:r>
              <a:rPr sz="1050" b="0">
                <a:solidFill>
                  <a:srgbClr val="B4C9D5"/>
                </a:solidFill>
                <a:latin typeface="Arial"/>
                <a:ea typeface="Arial"/>
                <a:cs typeface="Arial"/>
              </a:rPr>
              <a:t>3 / 3</a:t>
            </a:r>
          </a:p>
        </p:txBody>
      </p:sp>
      <p:sp>
        <p:nvSpPr>
          <p:cNvPr id="4" name="">
            <a:extLst xmlns:a="http://schemas.openxmlformats.org/drawingml/2006/main">
              <a:ext uri="{FF2B5EF4-FFF2-40B4-BE49-F238E27FC236}">
                <a16:creationId xmlns:a16="http://schemas.microsoft.com/office/drawing/2014/main" id="{DD989AC5-6AA3-4E10-ADCB-12790B1DD2A3}"/>
              </a:ext>
            </a:extLst>
          </p:cNvPr>
          <p:cNvSpPr>
            <a:spLocks xmlns:a="http://schemas.openxmlformats.org/drawingml/2006/main" noGrp="1"/>
          </p:cNvSpPr>
          <p:nvPr/>
        </p:nvSpPr>
        <p:spPr>
          <a:xfrm xmlns:a="http://schemas.openxmlformats.org/drawingml/2006/main">
            <a:off x="609600" y="2190750"/>
            <a:ext cx="10906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82D4E5"/>
                </a:solidFill>
                <a:latin typeface="Arial"/>
                <a:ea typeface="Arial"/>
                <a:cs typeface="Arial"/>
              </a:defRPr>
            </a:pPr>
            <a:r>
              <a:rPr sz="3225" b="1">
                <a:solidFill>
                  <a:srgbClr val="82D4E5"/>
                </a:solidFill>
                <a:latin typeface="Arial"/>
                <a:ea typeface="Arial"/>
                <a:cs typeface="Arial"/>
              </a:rPr>
              <a:t>44 unit and integration tests</a:t>
            </a:r>
          </a:p>
          <a:p xmlns:a="http://schemas.openxmlformats.org/drawingml/2006/main">
            <a:pPr algn="l">
              <a:defRPr sz="3225" b="1">
                <a:solidFill>
                  <a:srgbClr val="82D4E5"/>
                </a:solidFill>
                <a:latin typeface="Arial"/>
                <a:ea typeface="Arial"/>
                <a:cs typeface="Arial"/>
              </a:defRPr>
            </a:pPr>
            <a:r>
              <a:rPr sz="3225" b="1">
                <a:solidFill>
                  <a:srgbClr val="82D4E5"/>
                </a:solidFill>
                <a:latin typeface="Arial"/>
                <a:ea typeface="Arial"/>
                <a:cs typeface="Arial"/>
              </a:rPr>
              <a:t>13 Chromium browser checks</a:t>
            </a:r>
          </a:p>
        </p:txBody>
      </p:sp>
      <p:sp>
        <p:nvSpPr>
          <p:cNvPr id="5" name="">
            <a:extLst xmlns:a="http://schemas.openxmlformats.org/drawingml/2006/main">
              <a:ext uri="{FF2B5EF4-FFF2-40B4-BE49-F238E27FC236}">
                <a16:creationId xmlns:a16="http://schemas.microsoft.com/office/drawing/2014/main" id="{96124F51-7ED9-429D-9B25-F061714F7A19}"/>
              </a:ext>
            </a:extLst>
          </p:cNvPr>
          <p:cNvSpPr>
            <a:spLocks xmlns:a="http://schemas.openxmlformats.org/drawingml/2006/main" noGrp="1"/>
          </p:cNvSpPr>
          <p:nvPr/>
        </p:nvSpPr>
        <p:spPr>
          <a:xfrm xmlns:a="http://schemas.openxmlformats.org/drawingml/2006/main">
            <a:off x="609600" y="4048125"/>
            <a:ext cx="1090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F2F7FA"/>
                </a:solidFill>
                <a:latin typeface="Arial"/>
                <a:ea typeface="Arial"/>
                <a:cs typeface="Arial"/>
              </a:defRPr>
            </a:pPr>
            <a:r>
              <a:rPr sz="2625" b="1">
                <a:solidFill>
                  <a:srgbClr val="F2F7FA"/>
                </a:solidFill>
                <a:latin typeface="Arial"/>
                <a:ea typeface="Arial"/>
                <a:cs typeface="Arial"/>
              </a:rPr>
              <a:t>Bounded model roles with visible evidence</a:t>
            </a:r>
          </a:p>
        </p:txBody>
      </p:sp>
      <p:sp>
        <p:nvSpPr>
          <p:cNvPr id="6" name="">
            <a:extLst xmlns:a="http://schemas.openxmlformats.org/drawingml/2006/main">
              <a:ext uri="{FF2B5EF4-FFF2-40B4-BE49-F238E27FC236}">
                <a16:creationId xmlns:a16="http://schemas.microsoft.com/office/drawing/2014/main" id="{31A04766-5723-4605-8A01-1B1D959C781E}"/>
              </a:ext>
            </a:extLst>
          </p:cNvPr>
          <p:cNvSpPr>
            <a:spLocks xmlns:a="http://schemas.openxmlformats.org/drawingml/2006/main" noGrp="1"/>
          </p:cNvSpPr>
          <p:nvPr/>
        </p:nvSpPr>
        <p:spPr>
          <a:xfrm xmlns:a="http://schemas.openxmlformats.org/drawingml/2006/main">
            <a:off x="609600" y="5143500"/>
            <a:ext cx="1090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E8B362"/>
                </a:solidFill>
                <a:latin typeface="Arial"/>
                <a:ea typeface="Arial"/>
                <a:cs typeface="Arial"/>
              </a:defRPr>
            </a:pPr>
            <a:r>
              <a:rPr sz="2100" b="0">
                <a:solidFill>
                  <a:srgbClr val="E8B362"/>
                </a:solidFill>
                <a:latin typeface="Arial"/>
                <a:ea typeface="Arial"/>
                <a:cs typeface="Arial"/>
              </a:rPr>
              <a:t>Forecast quality still needs broader evaluation</a:t>
            </a:r>
          </a:p>
        </p:txBody>
      </p:sp>
      <p:sp>
        <p:nvSpPr>
          <p:cNvPr id="7" name="">
            <a:extLst xmlns:a="http://schemas.openxmlformats.org/drawingml/2006/main">
              <a:ext uri="{FF2B5EF4-FFF2-40B4-BE49-F238E27FC236}">
                <a16:creationId xmlns:a16="http://schemas.microsoft.com/office/drawing/2014/main" id="{B6C6BF17-BC37-4600-98A2-234D817FCBA1}"/>
              </a:ext>
            </a:extLst>
          </p:cNvPr>
          <p:cNvSpPr>
            <a:spLocks xmlns:a="http://schemas.openxmlformats.org/drawingml/2006/main" noGrp="1"/>
          </p:cNvSpPr>
          <p:nvPr/>
        </p:nvSpPr>
        <p:spPr>
          <a:xfrm xmlns:a="http://schemas.openxmlformats.org/drawingml/2006/main">
            <a:off x="609600" y="6029325"/>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82D4E5"/>
                </a:solidFill>
                <a:latin typeface="Arial"/>
                <a:ea typeface="Arial"/>
                <a:cs typeface="Arial"/>
              </a:defRPr>
            </a:pPr>
            <a:r>
              <a:rPr sz="2175" b="0">
                <a:solidFill>
                  <a:srgbClr val="82D4E5"/>
                </a:solidFill>
                <a:latin typeface="Arial"/>
                <a:ea typeface="Arial"/>
                <a:cs typeface="Arial"/>
              </a:rPr>
              <a:t>https://github.com/roboyak/PAP-Agent</a:t>
            </a:r>
          </a:p>
        </p:txBody>
      </p:sp>
    </p:spTree>
    <p:extLst>
      <p:ext uri="{BB962C8B-B14F-4D97-AF65-F5344CB8AC3E}">
        <p14:creationId xmlns:p14="http://schemas.microsoft.com/office/powerpoint/2010/main" val="5817168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2026-09-07T22:51:22.1220000Z</dcterms:created>
  <dcterms:modified xsi:type="dcterms:W3CDTF">2026-09-07T22:51:22.1220000Z</dcterms:modified>
</coreProperties>
</file>