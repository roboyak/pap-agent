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4084a4679b4b4e" /><Relationship Type="http://schemas.openxmlformats.org/officeDocument/2006/relationships/extended-properties" Target="/docProps/app.xml" Id="R2c6acc1dd4ce4066" /><Relationship Type="http://schemas.openxmlformats.org/officeDocument/2006/relationships/officeDocument" Target="/ppt/presentation.xml" Id="R39bbaca18e494b5a" /></Relationships>
</file>

<file path=ppt/presentation.xml><?xml version="1.0" encoding="utf-8"?>
<p:presentation xmlns:p="http://schemas.openxmlformats.org/presentationml/2006/main">
  <p:sldMasterIdLst>
    <p:sldMasterId xmlns:r="http://schemas.openxmlformats.org/officeDocument/2006/relationships" id="2147483648" r:id="R9d436084626c4db4"/>
  </p:sldMasterIdLst>
  <p:notesMasterIdLst>
    <p:notesMasterId xmlns:r="http://schemas.openxmlformats.org/officeDocument/2006/relationships" r:id="Re3641759dd7047c3"/>
  </p:notesMasterIdLst>
  <p:sldIdLst>
    <p:sldId xmlns:r="http://schemas.openxmlformats.org/officeDocument/2006/relationships" id="256" r:id="R9c3f285b69cf4cd4"/>
    <p:sldId xmlns:r="http://schemas.openxmlformats.org/officeDocument/2006/relationships" id="257" r:id="R18f23915ea8f4a73"/>
    <p:sldId xmlns:r="http://schemas.openxmlformats.org/officeDocument/2006/relationships" id="258" r:id="R260f812a2ddf4047"/>
    <p:sldId xmlns:r="http://schemas.openxmlformats.org/officeDocument/2006/relationships" id="259" r:id="Ra7d26e98f9ea41ba"/>
    <p:sldId xmlns:r="http://schemas.openxmlformats.org/officeDocument/2006/relationships" id="260" r:id="R709eda5753844d58"/>
    <p:sldId xmlns:r="http://schemas.openxmlformats.org/officeDocument/2006/relationships" id="261" r:id="R8b3092e1d8304585"/>
    <p:sldId xmlns:r="http://schemas.openxmlformats.org/officeDocument/2006/relationships" id="262" r:id="R711d2d274dbe48df"/>
    <p:sldId xmlns:r="http://schemas.openxmlformats.org/officeDocument/2006/relationships" id="263" r:id="Rb37cff0d732446ee"/>
    <p:sldId xmlns:r="http://schemas.openxmlformats.org/officeDocument/2006/relationships" id="264" r:id="Rf8c504f1b0db48bf"/>
    <p:sldId xmlns:r="http://schemas.openxmlformats.org/officeDocument/2006/relationships" id="265" r:id="Ra11966e01a9446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29e3bd23c543a1" /><Relationship Type="http://schemas.openxmlformats.org/officeDocument/2006/relationships/slideMaster" Target="/ppt/slideMasters/slideMaster1.xml" Id="R9d436084626c4db4" /><Relationship Type="http://schemas.openxmlformats.org/officeDocument/2006/relationships/notesMaster" Target="/ppt/notesMasters/notesMaster1.xml" Id="Re3641759dd7047c3" /><Relationship Type="http://schemas.openxmlformats.org/officeDocument/2006/relationships/presProps" Target="/ppt/presProps.xml" Id="R46eb3015e8654ab5" /><Relationship Type="http://schemas.openxmlformats.org/officeDocument/2006/relationships/tableStyles" Target="/ppt/tableStyles.xml" Id="Rbff230391c1f402a" /><Relationship Type="http://schemas.openxmlformats.org/officeDocument/2006/relationships/slide" Target="/ppt/slides/slide1.xml" Id="R9c3f285b69cf4cd4" /><Relationship Type="http://schemas.openxmlformats.org/officeDocument/2006/relationships/slide" Target="/ppt/slides/slide2.xml" Id="R18f23915ea8f4a73" /><Relationship Type="http://schemas.openxmlformats.org/officeDocument/2006/relationships/slide" Target="/ppt/slides/slide3.xml" Id="R260f812a2ddf4047" /><Relationship Type="http://schemas.openxmlformats.org/officeDocument/2006/relationships/slide" Target="/ppt/slides/slide4.xml" Id="Ra7d26e98f9ea41ba" /><Relationship Type="http://schemas.openxmlformats.org/officeDocument/2006/relationships/slide" Target="/ppt/slides/slide5.xml" Id="R709eda5753844d58" /><Relationship Type="http://schemas.openxmlformats.org/officeDocument/2006/relationships/slide" Target="/ppt/slides/slide6.xml" Id="R8b3092e1d8304585" /><Relationship Type="http://schemas.openxmlformats.org/officeDocument/2006/relationships/slide" Target="/ppt/slides/slide7.xml" Id="R711d2d274dbe48df" /><Relationship Type="http://schemas.openxmlformats.org/officeDocument/2006/relationships/slide" Target="/ppt/slides/slide8.xml" Id="Rb37cff0d732446ee" /><Relationship Type="http://schemas.openxmlformats.org/officeDocument/2006/relationships/slide" Target="/ppt/slides/slide9.xml" Id="Rf8c504f1b0db48bf" /><Relationship Type="http://schemas.openxmlformats.org/officeDocument/2006/relationships/slide" Target="/ppt/slides/slide10.xml" Id="Ra11966e01a94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ef24b6db4843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2016780f244efc" /><Relationship Type="http://schemas.openxmlformats.org/officeDocument/2006/relationships/notesMaster" Target="/ppt/notesMasters/notesMaster1.xml" Id="R555ec4c37fe54a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5b50ee17dc402f" /><Relationship Type="http://schemas.openxmlformats.org/officeDocument/2006/relationships/notesMaster" Target="/ppt/notesMasters/notesMaster1.xml" Id="R624947c4c47f4f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36147d3b514393" /><Relationship Type="http://schemas.openxmlformats.org/officeDocument/2006/relationships/notesMaster" Target="/ppt/notesMasters/notesMaster1.xml" Id="R0ebb813c0c544a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87841bf0784e62" /><Relationship Type="http://schemas.openxmlformats.org/officeDocument/2006/relationships/notesMaster" Target="/ppt/notesMasters/notesMaster1.xml" Id="Re407ae30459b45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22c292c4e34d74" /><Relationship Type="http://schemas.openxmlformats.org/officeDocument/2006/relationships/notesMaster" Target="/ppt/notesMasters/notesMaster1.xml" Id="R5e70d2cd37524f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7e89cc385641fc" /><Relationship Type="http://schemas.openxmlformats.org/officeDocument/2006/relationships/notesMaster" Target="/ppt/notesMasters/notesMaster1.xml" Id="R889e89a7d18940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c73db734a64868" /><Relationship Type="http://schemas.openxmlformats.org/officeDocument/2006/relationships/notesMaster" Target="/ppt/notesMasters/notesMaster1.xml" Id="Rbadd6d12270741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1fad0f194a4c7c" /><Relationship Type="http://schemas.openxmlformats.org/officeDocument/2006/relationships/notesMaster" Target="/ppt/notesMasters/notesMaster1.xml" Id="Ra7c86a7471d041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d5729c1bf24178" /><Relationship Type="http://schemas.openxmlformats.org/officeDocument/2006/relationships/notesMaster" Target="/ppt/notesMasters/notesMaster1.xml" Id="R54a18b1efc3e42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0e3495d56b49f1" /><Relationship Type="http://schemas.openxmlformats.org/officeDocument/2006/relationships/notesMaster" Target="/ppt/notesMasters/notesMaster1.xml" Id="R44ccc472a56645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40 seconds</a:t>
            </a:r>
          </a:p>
          <a:p xmlns:a="http://schemas.openxmlformats.org/drawingml/2006/main">
            <a:r>
              <a:t/>
            </a:r>
          </a:p>
          <a:p xmlns:a="http://schemas.openxmlformats.org/drawingml/2006/main">
            <a:r>
              <a:t>Hello, I am Shawn Cunningham. My capstone is the DragonWings Power Availability Profile Forecaster, or PAP. It helps an operator review how much additional solar power may be available over the next twelve hours. This is a working local agent service with real telemetry, searchable memory, and bounded model roles. The central design decision is to give numerical calculations and validation to ordinary code, while models interpret evidence. I will walk through the six checkpoints, show how they became one application, and distinguish the implementation results from the forecast quality that still needs broader evaluation.</a:t>
            </a:r>
          </a:p>
          <a:p xmlns:a="http://schemas.openxmlformats.org/drawingml/2006/main">
            <a:r>
              <a:t/>
            </a:r>
          </a:p>
          <a:p xmlns:a="http://schemas.openxmlformats.org/drawingml/2006/main">
            <a:r>
              <a:t>Evidence</a:t>
            </a:r>
          </a:p>
          <a:p xmlns:a="http://schemas.openxmlformats.org/drawingml/2006/main">
            <a:r>
              <a:t>R1: https://github.com/roboyak/PAP-Agent/blob/74cc759/README.md</a:t>
            </a:r>
          </a:p>
          <a:p xmlns:a="http://schemas.openxmlformats.org/drawingml/2006/main">
            <a:r>
              <a:t>R2: https://github.com/roboyak/PAP-Agent/blob/74cc759/docs/architecture/FINAL_MVP.md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50 seconds</a:t>
            </a:r>
          </a:p>
          <a:p xmlns:a="http://schemas.openxmlformats.org/drawingml/2006/main">
            <a:r>
              <a:t/>
            </a:r>
          </a:p>
          <a:p xmlns:a="http://schemas.openxmlformats.org/drawingml/2006/main">
            <a:r>
              <a:t>The first checkpoint started with an operating question, rather than a choice of framework. An operator can see solar production, load, and battery voltage, but those readings alone do not tell them what optional load might be reasonable later. PAP combines those inputs into a twelve-hour profile. Kilowatts describe power during an interval. Kilowatt-hours describe energy over time. For this MVP, I intentionally limited the calculation to additional solar surplus. It uses synthetic hourly solar factors, keeps measured demand constant, and allocates no battery discharge. These choices make the smallest complete workflow testable, but they also mean the output is evaluation guidance. The operator still makes every equipment decision.</a:t>
            </a:r>
          </a:p>
          <a:p xmlns:a="http://schemas.openxmlformats.org/drawingml/2006/main">
            <a:r>
              <a:t/>
            </a:r>
          </a:p>
          <a:p xmlns:a="http://schemas.openxmlformats.org/drawingml/2006/main">
            <a:r>
              <a:t>Evidence</a:t>
            </a:r>
          </a:p>
          <a:p xmlns:a="http://schemas.openxmlformats.org/drawingml/2006/main">
            <a:r>
              <a:t>R1: https://github.com/roboyak/PAP-Agent/blob/74cc759/README.md</a:t>
            </a:r>
          </a:p>
          <a:p xmlns:a="http://schemas.openxmlformats.org/drawingml/2006/main">
            <a:r>
              <a:t>R2: https://github.com/roboyak/PAP-Agent/blob/74cc759/docs/architecture/FINAL_MVP.md</a:t>
            </a:r>
          </a:p>
          <a:p xmlns:a="http://schemas.openxmlformats.org/drawingml/2006/main">
            <a:r>
              <a:t>C1: https://github.com/roboyak/PAP-Agent/blob/74cc759/20260907_151637_UTC_Final_Capstone_Report_DragonWings_PAP_Section_B.pdf</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65 seconds</a:t>
            </a:r>
          </a:p>
          <a:p xmlns:a="http://schemas.openxmlformats.org/drawingml/2006/main">
            <a:r>
              <a:t/>
            </a:r>
          </a:p>
          <a:p xmlns:a="http://schemas.openxmlformats.org/drawingml/2006/main">
            <a:r>
              <a:t>Checkpoint two introduced the tool and feedback cycle. In the implemented system, LangGraph owns the workflow. The first two tools are read-only MCP adapters. One reads the persisted MySolArk scrape and one supplies the current synthetic weather scenario. T3 checks their structure, units, timestamps, and freshness. Python then forecasts, calculates solar surplus, and applies constraints. Only after those calculations does the graph assess whether interpretation is needed. Qualified memory and bounded model roles can supply advice, but they cannot rewrite the calculated power. T7 performs another freshness and constraint check before the result is published or withheld. PostgreSQL stores the actual evidence and results. The graph checkpointer stores progress and record references, which allows a run to resume without creating a competing copy of the facts.</a:t>
            </a:r>
          </a:p>
          <a:p xmlns:a="http://schemas.openxmlformats.org/drawingml/2006/main">
            <a:r>
              <a:t/>
            </a:r>
          </a:p>
          <a:p xmlns:a="http://schemas.openxmlformats.org/drawingml/2006/main">
            <a:r>
              <a:t>Evidence</a:t>
            </a:r>
          </a:p>
          <a:p xmlns:a="http://schemas.openxmlformats.org/drawingml/2006/main">
            <a:r>
              <a:t>R2: https://github.com/roboyak/PAP-Agent/blob/74cc759/docs/architecture/FINAL_MVP.md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55 seconds</a:t>
            </a:r>
          </a:p>
          <a:p xmlns:a="http://schemas.openxmlformats.org/drawingml/2006/main">
            <a:r>
              <a:t/>
            </a:r>
          </a:p>
          <a:p xmlns:a="http://schemas.openxmlformats.org/drawingml/2006/main">
            <a:r>
              <a:t>Checkpoint three added searchable external memory. The operator can compare a forecast with a newer reading, then explicitly index qualified outcome records and short guidance documents. The system creates local embeddings and stores them in pgvector alongside the relational data. A query considers five candidates, checks source, version, expiry, relevance, and duplicates, and passes at most three into model context. Think of this as finding a relevant note from a previous job. It is useful context, but it cannot change the current instrument reading. One actual semantic query about protecting the battery ranked reserve guidance first. That demonstrates the mechanism. It is not an estimate of retrieval accuracy, and the cosine score is not a probability.</a:t>
            </a:r>
          </a:p>
          <a:p xmlns:a="http://schemas.openxmlformats.org/drawingml/2006/main">
            <a:r>
              <a:t/>
            </a:r>
          </a:p>
          <a:p xmlns:a="http://schemas.openxmlformats.org/drawingml/2006/main">
            <a:r>
              <a:t>Evidence</a:t>
            </a:r>
          </a:p>
          <a:p xmlns:a="http://schemas.openxmlformats.org/drawingml/2006/main">
            <a:r>
              <a:t>R2: https://github.com/roboyak/PAP-Agent/blob/74cc759/docs/architecture/FINAL_MVP.md</a:t>
            </a:r>
          </a:p>
          <a:p xmlns:a="http://schemas.openxmlformats.org/drawingml/2006/main">
            <a:r>
              <a:t>R4: https://github.com/roboyak/PAP-Agent/blob/74cc759/docs/pr/PR-08.md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60 seconds</a:t>
            </a:r>
          </a:p>
          <a:p xmlns:a="http://schemas.openxmlformats.org/drawingml/2006/main">
            <a:r>
              <a:t/>
            </a:r>
          </a:p>
          <a:p xmlns:a="http://schemas.openxmlformats.org/drawingml/2006/main">
            <a:r>
              <a:t>Checkpoint four introduced selective Tree of Thoughts. Routine evidence takes the direct path to the final publication check and needs no model generation. In the current demonstration, recorded mean solar overestimation above zero point two five kilowatts triggers ambiguity. The generator proposes up to three alternatives. Python removes invalid candidates before the critic evaluates the survivors. The controller retains a beam of two and permits only one refinement before final submission. All roles share a maximum of eight model attempts. Every call also has a time and output limit. These limits bound the search and make termination visible. The alternatives concern interpretation, refreshing evidence, or withholding. They do not propose new battery limits or alter the power formula.</a:t>
            </a:r>
          </a:p>
          <a:p xmlns:a="http://schemas.openxmlformats.org/drawingml/2006/main">
            <a:r>
              <a:t/>
            </a:r>
          </a:p>
          <a:p xmlns:a="http://schemas.openxmlformats.org/drawingml/2006/main">
            <a:r>
              <a:t>Evidence</a:t>
            </a:r>
          </a:p>
          <a:p xmlns:a="http://schemas.openxmlformats.org/drawingml/2006/main">
            <a:r>
              <a:t>R1: https://github.com/roboyak/PAP-Agent/blob/74cc759/README.md</a:t>
            </a:r>
          </a:p>
          <a:p xmlns:a="http://schemas.openxmlformats.org/drawingml/2006/main">
            <a:r>
              <a:t>R2: https://github.com/roboyak/PAP-Agent/blob/74cc759/docs/architecture/FINAL_MVP.md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65 seconds</a:t>
            </a:r>
          </a:p>
          <a:p xmlns:a="http://schemas.openxmlformats.org/drawingml/2006/main">
            <a:r>
              <a:t/>
            </a:r>
          </a:p>
          <a:p xmlns:a="http://schemas.openxmlformats.org/drawingml/2006/main">
            <a:r>
              <a:t>Checkpoint five separated the generator and critic so that proposing and evaluating guidance have distinct roles. The MVP also has an optional third role that interprets the evidence before search. An environment variable controls that role, and the browser comparison uses the same telemetry and weather snapshot for both modes. In one actual MySolArk and Ollama pair, two roles used four calls and about fifty-three seconds, producing a valid publication. Three roles used six calls and about seventy seconds, producing a withheld result. The calculated power and energy were identical. This is an informative latency observation, but only one sequential pair. Warm-up and model variability could affect the comparison. I have not established that the third role improves quality, so it remains disabled by default.</a:t>
            </a:r>
          </a:p>
          <a:p xmlns:a="http://schemas.openxmlformats.org/drawingml/2006/main">
            <a:r>
              <a:t/>
            </a:r>
          </a:p>
          <a:p xmlns:a="http://schemas.openxmlformats.org/drawingml/2006/main">
            <a:r>
              <a:t>Evidence</a:t>
            </a:r>
          </a:p>
          <a:p xmlns:a="http://schemas.openxmlformats.org/drawingml/2006/main">
            <a:r>
              <a:t>R5: https://github.com/roboyak/PAP-Agent/blob/74cc759/docs/pr/PR-11.md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55 seconds</a:t>
            </a:r>
          </a:p>
          <a:p xmlns:a="http://schemas.openxmlformats.org/drawingml/2006/main">
            <a:r>
              <a:t/>
            </a:r>
          </a:p>
          <a:p xmlns:a="http://schemas.openxmlformats.org/drawingml/2006/main">
            <a:r>
              <a:t>Checkpoint six made the safety and oversight boundaries explicit. Input checks, numerical checks, bounded model execution, and the final publication gate each have a visible purpose. A scan of six thousand five hundred twenty-seven MySolArk records found a minimum of three hundred five point two volts. I use that fixed floor under the user's operating policy, which associates it with roughly thirty percent reserve. PAP does not measure SOC or derive a voltage-to-SOC curve. It withholds at or below the configured reading and never reduces the floor automatically. It also does not predict future battery voltage. The operator can inspect a withholding reason, resolve the evidence or configuration, and request another validated run. There are no hardware-control tools.</a:t>
            </a:r>
          </a:p>
          <a:p xmlns:a="http://schemas.openxmlformats.org/drawingml/2006/main">
            <a:r>
              <a:t/>
            </a:r>
          </a:p>
          <a:p xmlns:a="http://schemas.openxmlformats.org/drawingml/2006/main">
            <a:r>
              <a:t>Evidence</a:t>
            </a:r>
          </a:p>
          <a:p xmlns:a="http://schemas.openxmlformats.org/drawingml/2006/main">
            <a:r>
              <a:t>R1: https://github.com/roboyak/PAP-Agent/blob/74cc759/README.md</a:t>
            </a:r>
          </a:p>
          <a:p xmlns:a="http://schemas.openxmlformats.org/drawingml/2006/main">
            <a:r>
              <a:t>R2: https://github.com/roboyak/PAP-Agent/blob/74cc759/docs/architecture/FINAL_MVP.md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50 seconds</a:t>
            </a:r>
          </a:p>
          <a:p xmlns:a="http://schemas.openxmlformats.org/drawingml/2006/main">
            <a:r>
              <a:t/>
            </a:r>
          </a:p>
          <a:p xmlns:a="http://schemas.openxmlformats.org/drawingml/2006/main">
            <a:r>
              <a:t>The integrated console brings these checkpoints together. Context shows the actual inputs and calculated facts. Memory shows retrieved records and evaluated outcomes. Tools shows the read-only interfaces, call arguments, results, and elapsed time. Subagent shows role inputs, schemas, validated outputs, and usage. Trace shows graph progress, branch pruning, scores, and stopping reasons. Health checks the source, database, vector store, checkpointer, and local models. The screenshot is an actual browser run that withheld publication. That is useful to inspect because the application should explain why it stopped, rather than leave an unexplained empty result. These views expose evidence and structured decisions, not private model chain-of-thought.</a:t>
            </a:r>
          </a:p>
          <a:p xmlns:a="http://schemas.openxmlformats.org/drawingml/2006/main">
            <a:r>
              <a:t/>
            </a:r>
          </a:p>
          <a:p xmlns:a="http://schemas.openxmlformats.org/drawingml/2006/main">
            <a:r>
              <a:t>Evidence</a:t>
            </a:r>
          </a:p>
          <a:p xmlns:a="http://schemas.openxmlformats.org/drawingml/2006/main">
            <a:r>
              <a:t>R1: https://github.com/roboyak/PAP-Agent/blob/74cc759/README.md</a:t>
            </a:r>
          </a:p>
          <a:p xmlns:a="http://schemas.openxmlformats.org/drawingml/2006/main">
            <a:r>
              <a:t>R6: https://github.com/roboyak/PAP-Agent/blob/74cc759/docs/pr/PR-12.md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65 seconds</a:t>
            </a:r>
          </a:p>
          <a:p xmlns:a="http://schemas.openxmlformats.org/drawingml/2006/main">
            <a:r>
              <a:t/>
            </a:r>
          </a:p>
          <a:p xmlns:a="http://schemas.openxmlformats.org/drawingml/2006/main">
            <a:r>
              <a:t>Evaluation uses two complementary methods. The required local gate passed forty unit and integration tests plus ten Chromium Playwright checks. The tests cover numerical behavior, invalid inputs, voltage policy, model boundaries, search budgets, durable execution, retrieval, and the console. They use deterministic model doubles so results can be repeated. Separately, live browser checks used the real local telemetry database and actual Ollama models. One newer sample measured zero point four one zero kilowatts of solar overestimation and zero point zero seven six kilowatts of availability error. These are point-power comparisons, not measured hourly energy. The final live run completed within its model budget and exposed a withheld outcome. The evidence supports integration and tested boundaries. It does not establish forecast accuracy, calibrated confidence, or an agent quality success rate.</a:t>
            </a:r>
          </a:p>
          <a:p xmlns:a="http://schemas.openxmlformats.org/drawingml/2006/main">
            <a:r>
              <a:t/>
            </a:r>
          </a:p>
          <a:p xmlns:a="http://schemas.openxmlformats.org/drawingml/2006/main">
            <a:r>
              <a:t>Evidence</a:t>
            </a:r>
          </a:p>
          <a:p xmlns:a="http://schemas.openxmlformats.org/drawingml/2006/main">
            <a:r>
              <a:t>R3: https://github.com/roboyak/PAP-Agent/blob/74cc759/docs/pr/PR-07.md</a:t>
            </a:r>
          </a:p>
          <a:p xmlns:a="http://schemas.openxmlformats.org/drawingml/2006/main">
            <a:r>
              <a:t>R6: https://github.com/roboyak/PAP-Agent/blob/74cc759/docs/pr/PR-12.md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duration: 55 seconds</a:t>
            </a:r>
          </a:p>
          <a:p xmlns:a="http://schemas.openxmlformats.org/drawingml/2006/main">
            <a:r>
              <a:t/>
            </a:r>
          </a:p>
          <a:p xmlns:a="http://schemas.openxmlformats.org/drawingml/2006/main">
            <a:r>
              <a:t>The repository is at github dot com slash roboyak slash PAP dash Agent. Its README explains the native prerequisites, architecture, setup, and usage. Reviewers can use the synthetic replay profile without the private telemetry database. The code, tests, and PR evidence show each teaching increment. The submission folder contains the editable content and scripts that regenerate this presentation and report. The main strength is the integrated boundary between evidence, deterministic calculation, and model advice, with enough visibility to inspect a run. The next work is to validate real weather and equipment capability, evaluate held-out forecast outcomes, and repeat the agent comparison with order balanced across trials. The result is a working foundation for evaluation, with the limits of its current claims stated explicitly.</a:t>
            </a:r>
          </a:p>
          <a:p xmlns:a="http://schemas.openxmlformats.org/drawingml/2006/main">
            <a:r>
              <a:t/>
            </a:r>
          </a:p>
          <a:p xmlns:a="http://schemas.openxmlformats.org/drawingml/2006/main">
            <a:r>
              <a:t>Evidence</a:t>
            </a:r>
          </a:p>
          <a:p xmlns:a="http://schemas.openxmlformats.org/drawingml/2006/main">
            <a:r>
              <a:t>R1: https://github.com/roboyak/PAP-Agent/blob/74cc759/README.md</a:t>
            </a:r>
          </a:p>
          <a:p xmlns:a="http://schemas.openxmlformats.org/drawingml/2006/main">
            <a:r>
              <a:t>R2: https://github.com/roboyak/PAP-Agent/blob/74cc759/docs/architecture/FINAL_MVP.md</a:t>
            </a:r>
          </a:p>
          <a:p xmlns:a="http://schemas.openxmlformats.org/drawingml/2006/main">
            <a:r>
              <a:t/>
            </a:r>
          </a:p>
          <a:p xmlns:a="http://schemas.openxmlformats.org/drawingml/2006/main">
            <a:r>
              <a:t>Design reference: user-supplied DragonWings_Bounded_Power_Architecture.pdf and DragonWings_Bounded_Power_Forecasting.pptx. Cover illustration: generated conceptual solar and battery blueprint. Console screenshot: actual local Playwright run, September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da33f1d5704e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f1b9ca14f44d5f" /><Relationship Type="http://schemas.openxmlformats.org/officeDocument/2006/relationships/slideLayout" Target="/ppt/slideLayouts/slideLayout1.xml" Id="R9f573fcde9c244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573fcde9c244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118c11138d4421" /><Relationship Type="http://schemas.openxmlformats.org/officeDocument/2006/relationships/image" Target="/ppt/media/image.png" Id="R60166aa85c704e55" /><Relationship Type="http://schemas.openxmlformats.org/officeDocument/2006/relationships/notesSlide" Target="/ppt/notesSlides/notesSlide1.xml" Id="R6d9f50ff1e2341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92b0aec38d43c6" /><Relationship Type="http://schemas.openxmlformats.org/officeDocument/2006/relationships/notesSlide" Target="/ppt/notesSlides/notesSlide2.xml" Id="R6fff846f292040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3f02b3c5824fea" /><Relationship Type="http://schemas.openxmlformats.org/officeDocument/2006/relationships/notesSlide" Target="/ppt/notesSlides/notesSlide3.xml" Id="Rd7a40832235848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3e5dba52a84674" /><Relationship Type="http://schemas.openxmlformats.org/officeDocument/2006/relationships/notesSlide" Target="/ppt/notesSlides/notesSlide4.xml" Id="R5940c415f51848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181c8b6dd74c03" /><Relationship Type="http://schemas.openxmlformats.org/officeDocument/2006/relationships/notesSlide" Target="/ppt/notesSlides/notesSlide5.xml" Id="Recd61e6dcb3541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d9a1ed47574e4c" /><Relationship Type="http://schemas.openxmlformats.org/officeDocument/2006/relationships/notesSlide" Target="/ppt/notesSlides/notesSlide6.xml" Id="R738806d8fd034a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04032ff291410d" /><Relationship Type="http://schemas.openxmlformats.org/officeDocument/2006/relationships/notesSlide" Target="/ppt/notesSlides/notesSlide7.xml" Id="R16cc30e2e6b049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c87d7438a34e01" /><Relationship Type="http://schemas.openxmlformats.org/officeDocument/2006/relationships/image" Target="/ppt/media/image2.png" Id="R688616cdfaa04a2b" /><Relationship Type="http://schemas.openxmlformats.org/officeDocument/2006/relationships/notesSlide" Target="/ppt/notesSlides/notesSlide8.xml" Id="R2dde22eea7c141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01d9ccf9ba405c" /><Relationship Type="http://schemas.openxmlformats.org/officeDocument/2006/relationships/notesSlide" Target="/ppt/notesSlides/notesSlide9.xml" Id="R82e4fffeeca14c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f06a77c8f9409f" /><Relationship Type="http://schemas.openxmlformats.org/officeDocument/2006/relationships/notesSlide" Target="/ppt/notesSlides/notesSlide10.xml" Id="R4c29e6f0cb5545af" /></Relationships>
</file>

<file path=ppt/slides/slide1.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0166aa85c704e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88E629-0EFF-4565-AB4D-C1E41EDF0C3F}"/>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Final capstone submission</a:t>
            </a:r>
          </a:p>
        </p:txBody>
      </p:sp>
      <p:sp>
        <p:nvSpPr>
          <p:cNvPr id="3" name="">
            <a:extLst xmlns:a="http://schemas.openxmlformats.org/drawingml/2006/main">
              <a:ext uri="{FF2B5EF4-FFF2-40B4-BE49-F238E27FC236}">
                <a16:creationId xmlns:a16="http://schemas.microsoft.com/office/drawing/2014/main" id="{0C6A8A37-FFF9-4E88-81B2-2420511B9B67}"/>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1 / 10</a:t>
            </a:r>
          </a:p>
        </p:txBody>
      </p:sp>
      <p:sp>
        <p:nvSpPr>
          <p:cNvPr id="4" name="">
            <a:extLst xmlns:a="http://schemas.openxmlformats.org/drawingml/2006/main">
              <a:ext uri="{FF2B5EF4-FFF2-40B4-BE49-F238E27FC236}">
                <a16:creationId xmlns:a16="http://schemas.microsoft.com/office/drawing/2014/main" id="{5F62538F-71C7-4B48-B35B-1F3C5B84D828}"/>
              </a:ext>
            </a:extLst>
          </p:cNvPr>
          <p:cNvSpPr>
            <a:spLocks xmlns:a="http://schemas.openxmlformats.org/drawingml/2006/main" noGrp="1"/>
          </p:cNvSpPr>
          <p:nvPr/>
        </p:nvSpPr>
        <p:spPr>
          <a:xfrm xmlns:a="http://schemas.openxmlformats.org/drawingml/2006/main">
            <a:off x="609600" y="1666875"/>
            <a:ext cx="714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2F7FA"/>
                </a:solidFill>
                <a:latin typeface="Arial"/>
                <a:ea typeface="Arial"/>
                <a:cs typeface="Arial"/>
              </a:defRPr>
            </a:pPr>
            <a:r>
              <a:rPr sz="4800" b="1">
                <a:solidFill>
                  <a:srgbClr val="F2F7FA"/>
                </a:solidFill>
                <a:latin typeface="Arial"/>
                <a:ea typeface="Arial"/>
                <a:cs typeface="Arial"/>
              </a:rPr>
              <a:t>DragonWings</a:t>
            </a:r>
          </a:p>
          <a:p xmlns:a="http://schemas.openxmlformats.org/drawingml/2006/main">
            <a:pPr algn="l">
              <a:defRPr sz="4800" b="1">
                <a:solidFill>
                  <a:srgbClr val="F2F7FA"/>
                </a:solidFill>
                <a:latin typeface="Arial"/>
                <a:ea typeface="Arial"/>
                <a:cs typeface="Arial"/>
              </a:defRPr>
            </a:pPr>
            <a:r>
              <a:rPr sz="4800" b="1">
                <a:solidFill>
                  <a:srgbClr val="F2F7FA"/>
                </a:solidFill>
                <a:latin typeface="Arial"/>
                <a:ea typeface="Arial"/>
                <a:cs typeface="Arial"/>
              </a:rPr>
              <a:t>Power Availability</a:t>
            </a:r>
          </a:p>
          <a:p xmlns:a="http://schemas.openxmlformats.org/drawingml/2006/main">
            <a:pPr algn="l">
              <a:defRPr sz="4800" b="1">
                <a:solidFill>
                  <a:srgbClr val="F2F7FA"/>
                </a:solidFill>
                <a:latin typeface="Arial"/>
                <a:ea typeface="Arial"/>
                <a:cs typeface="Arial"/>
              </a:defRPr>
            </a:pPr>
            <a:r>
              <a:rPr sz="4800" b="1">
                <a:solidFill>
                  <a:srgbClr val="F2F7FA"/>
                </a:solidFill>
                <a:latin typeface="Arial"/>
                <a:ea typeface="Arial"/>
                <a:cs typeface="Arial"/>
              </a:rPr>
              <a:t>Profile Forecaster</a:t>
            </a:r>
          </a:p>
        </p:txBody>
      </p:sp>
      <p:sp>
        <p:nvSpPr>
          <p:cNvPr id="5" name="">
            <a:extLst xmlns:a="http://schemas.openxmlformats.org/drawingml/2006/main">
              <a:ext uri="{FF2B5EF4-FFF2-40B4-BE49-F238E27FC236}">
                <a16:creationId xmlns:a16="http://schemas.microsoft.com/office/drawing/2014/main" id="{D9FBD8A3-9345-431A-9E3F-ACBA3DB42E5B}"/>
              </a:ext>
            </a:extLst>
          </p:cNvPr>
          <p:cNvSpPr>
            <a:spLocks xmlns:a="http://schemas.openxmlformats.org/drawingml/2006/main" noGrp="1"/>
          </p:cNvSpPr>
          <p:nvPr/>
        </p:nvSpPr>
        <p:spPr>
          <a:xfrm xmlns:a="http://schemas.openxmlformats.org/drawingml/2006/main">
            <a:off x="609600" y="4333875"/>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82D4E5"/>
                </a:solidFill>
                <a:latin typeface="Arial"/>
                <a:ea typeface="Arial"/>
                <a:cs typeface="Arial"/>
              </a:defRPr>
            </a:pPr>
            <a:r>
              <a:rPr sz="2250" b="0">
                <a:solidFill>
                  <a:srgbClr val="82D4E5"/>
                </a:solidFill>
                <a:latin typeface="Arial"/>
                <a:ea typeface="Arial"/>
                <a:cs typeface="Arial"/>
              </a:rPr>
              <a:t>A bounded agent for additional solar power estimates</a:t>
            </a:r>
          </a:p>
        </p:txBody>
      </p:sp>
      <p:sp>
        <p:nvSpPr>
          <p:cNvPr id="6" name="">
            <a:extLst xmlns:a="http://schemas.openxmlformats.org/drawingml/2006/main">
              <a:ext uri="{FF2B5EF4-FFF2-40B4-BE49-F238E27FC236}">
                <a16:creationId xmlns:a16="http://schemas.microsoft.com/office/drawing/2014/main" id="{9BDE0B0B-792F-41F4-A163-CE47218BC345}"/>
              </a:ext>
            </a:extLst>
          </p:cNvPr>
          <p:cNvSpPr>
            <a:spLocks xmlns:a="http://schemas.openxmlformats.org/drawingml/2006/main" noGrp="1"/>
          </p:cNvSpPr>
          <p:nvPr/>
        </p:nvSpPr>
        <p:spPr>
          <a:xfrm xmlns:a="http://schemas.openxmlformats.org/drawingml/2006/main">
            <a:off x="609600" y="54292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4C9D5"/>
                </a:solidFill>
                <a:latin typeface="Arial"/>
                <a:ea typeface="Arial"/>
                <a:cs typeface="Arial"/>
              </a:defRPr>
            </a:pPr>
            <a:r>
              <a:rPr sz="1800" b="0">
                <a:solidFill>
                  <a:srgbClr val="B4C9D5"/>
                </a:solidFill>
                <a:latin typeface="Arial"/>
                <a:ea typeface="Arial"/>
                <a:cs typeface="Arial"/>
              </a:rPr>
              <a:t>Working MVP with inspectable evidence and human oversight</a:t>
            </a:r>
          </a:p>
        </p:txBody>
      </p:sp>
      <p:sp>
        <p:nvSpPr>
          <p:cNvPr id="7" name="">
            <a:extLst xmlns:a="http://schemas.openxmlformats.org/drawingml/2006/main">
              <a:ext uri="{FF2B5EF4-FFF2-40B4-BE49-F238E27FC236}">
                <a16:creationId xmlns:a16="http://schemas.microsoft.com/office/drawing/2014/main" id="{A32502DF-A82B-47E3-A4EB-9C41F1CAB425}"/>
              </a:ext>
            </a:extLst>
          </p:cNvPr>
          <p:cNvSpPr>
            <a:spLocks xmlns:a="http://schemas.openxmlformats.org/drawingml/2006/main" noGrp="1"/>
          </p:cNvSpPr>
          <p:nvPr/>
        </p:nvSpPr>
        <p:spPr>
          <a:xfrm xmlns:a="http://schemas.openxmlformats.org/drawingml/2006/main">
            <a:off x="609600" y="611505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Shawn Cunningham</a:t>
            </a:r>
          </a:p>
          <a:p xmlns:a="http://schemas.openxmlformats.org/drawingml/2006/main">
            <a:pPr algn="l">
              <a:defRPr sz="1425" b="0">
                <a:solidFill>
                  <a:srgbClr val="F2F7FA"/>
                </a:solidFill>
                <a:latin typeface="Arial"/>
                <a:ea typeface="Arial"/>
                <a:cs typeface="Arial"/>
              </a:defRPr>
            </a:pPr>
            <a:r>
              <a:rPr sz="1425" b="0">
                <a:solidFill>
                  <a:srgbClr val="F2F7FA"/>
                </a:solidFill>
                <a:latin typeface="Arial"/>
                <a:ea typeface="Arial"/>
                <a:cs typeface="Arial"/>
              </a:rPr>
              <a:t>September 7, 2026</a:t>
            </a:r>
          </a:p>
        </p:txBody>
      </p:sp>
    </p:spTree>
    <p:extLst>
      <p:ext uri="{BB962C8B-B14F-4D97-AF65-F5344CB8AC3E}">
        <p14:creationId xmlns:p14="http://schemas.microsoft.com/office/powerpoint/2010/main" val="951924998"/>
      </p:ext>
    </p:extLst>
  </p:cSld>
</p:sld>
</file>

<file path=ppt/slides/slide2.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FBDBF1-DDBE-40C9-B9E5-3C666CDBE98A}"/>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Checkpoint 1   Problem and scope</a:t>
            </a:r>
          </a:p>
        </p:txBody>
      </p:sp>
      <p:sp>
        <p:nvSpPr>
          <p:cNvPr id="2" name="">
            <a:extLst xmlns:a="http://schemas.openxmlformats.org/drawingml/2006/main">
              <a:ext uri="{FF2B5EF4-FFF2-40B4-BE49-F238E27FC236}">
                <a16:creationId xmlns:a16="http://schemas.microsoft.com/office/drawing/2014/main" id="{7972A650-D123-4AAD-8738-609218B6272D}"/>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The operator's planning question</a:t>
            </a:r>
          </a:p>
        </p:txBody>
      </p:sp>
      <p:sp>
        <p:nvSpPr>
          <p:cNvPr id="3" name="">
            <a:extLst xmlns:a="http://schemas.openxmlformats.org/drawingml/2006/main">
              <a:ext uri="{FF2B5EF4-FFF2-40B4-BE49-F238E27FC236}">
                <a16:creationId xmlns:a16="http://schemas.microsoft.com/office/drawing/2014/main" id="{71D0F769-68D0-4F70-9619-872A8FFBD299}"/>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2 / 10</a:t>
            </a:r>
          </a:p>
        </p:txBody>
      </p:sp>
      <p:sp>
        <p:nvSpPr>
          <p:cNvPr id="4" name="">
            <a:extLst xmlns:a="http://schemas.openxmlformats.org/drawingml/2006/main">
              <a:ext uri="{FF2B5EF4-FFF2-40B4-BE49-F238E27FC236}">
                <a16:creationId xmlns:a16="http://schemas.microsoft.com/office/drawing/2014/main" id="{F90BF841-811B-436A-B6D9-4B77331791F3}"/>
              </a:ext>
            </a:extLst>
          </p:cNvPr>
          <p:cNvSpPr>
            <a:spLocks xmlns:a="http://schemas.openxmlformats.org/drawingml/2006/main" noGrp="1"/>
          </p:cNvSpPr>
          <p:nvPr/>
        </p:nvSpPr>
        <p:spPr>
          <a:xfrm xmlns:a="http://schemas.openxmlformats.org/drawingml/2006/main">
            <a:off x="609600" y="1695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F2F7FA"/>
                </a:solidFill>
                <a:latin typeface="Arial"/>
                <a:ea typeface="Arial"/>
                <a:cs typeface="Arial"/>
              </a:defRPr>
            </a:pPr>
            <a:r>
              <a:rPr sz="2475" b="0">
                <a:solidFill>
                  <a:srgbClr val="F2F7FA"/>
                </a:solidFill>
                <a:latin typeface="Arial"/>
                <a:ea typeface="Arial"/>
                <a:cs typeface="Arial"/>
              </a:rPr>
              <a:t>How much extra load might the next 12 hours support?</a:t>
            </a:r>
          </a:p>
        </p:txBody>
      </p:sp>
      <p:sp>
        <p:nvSpPr>
          <p:cNvPr id="5" name="">
            <a:extLst xmlns:a="http://schemas.openxmlformats.org/drawingml/2006/main">
              <a:ext uri="{FF2B5EF4-FFF2-40B4-BE49-F238E27FC236}">
                <a16:creationId xmlns:a16="http://schemas.microsoft.com/office/drawing/2014/main" id="{5602B575-D096-43DE-9EA7-E87F38850B87}"/>
              </a:ext>
            </a:extLst>
          </p:cNvPr>
          <p:cNvSpPr>
            <a:spLocks xmlns:a="http://schemas.openxmlformats.org/drawingml/2006/main" noGrp="1"/>
          </p:cNvSpPr>
          <p:nvPr/>
        </p:nvSpPr>
        <p:spPr>
          <a:xfrm xmlns:a="http://schemas.openxmlformats.org/drawingml/2006/main">
            <a:off x="609600" y="2619375"/>
            <a:ext cx="2428875" cy="54292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Solar production</a:t>
            </a:r>
          </a:p>
        </p:txBody>
      </p:sp>
      <p:sp>
        <p:nvSpPr>
          <p:cNvPr id="6" name="">
            <a:extLst xmlns:a="http://schemas.openxmlformats.org/drawingml/2006/main">
              <a:ext uri="{FF2B5EF4-FFF2-40B4-BE49-F238E27FC236}">
                <a16:creationId xmlns:a16="http://schemas.microsoft.com/office/drawing/2014/main" id="{E3DA560B-8B57-4556-BA77-C90E07872DAD}"/>
              </a:ext>
            </a:extLst>
          </p:cNvPr>
          <p:cNvSpPr>
            <a:spLocks xmlns:a="http://schemas.openxmlformats.org/drawingml/2006/main" noGrp="1"/>
          </p:cNvSpPr>
          <p:nvPr/>
        </p:nvSpPr>
        <p:spPr>
          <a:xfrm xmlns:a="http://schemas.openxmlformats.org/drawingml/2006/main">
            <a:off x="609600" y="3314700"/>
            <a:ext cx="2428875" cy="54292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Existing demand</a:t>
            </a:r>
          </a:p>
        </p:txBody>
      </p:sp>
      <p:sp>
        <p:nvSpPr>
          <p:cNvPr id="7" name="">
            <a:extLst xmlns:a="http://schemas.openxmlformats.org/drawingml/2006/main">
              <a:ext uri="{FF2B5EF4-FFF2-40B4-BE49-F238E27FC236}">
                <a16:creationId xmlns:a16="http://schemas.microsoft.com/office/drawing/2014/main" id="{F56DDEF3-8BD7-41FE-8E24-F403F37DBDC1}"/>
              </a:ext>
            </a:extLst>
          </p:cNvPr>
          <p:cNvSpPr>
            <a:spLocks xmlns:a="http://schemas.openxmlformats.org/drawingml/2006/main" noGrp="1"/>
          </p:cNvSpPr>
          <p:nvPr/>
        </p:nvSpPr>
        <p:spPr>
          <a:xfrm xmlns:a="http://schemas.openxmlformats.org/drawingml/2006/main">
            <a:off x="609600" y="4010025"/>
            <a:ext cx="2428875" cy="54292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Battery voltage</a:t>
            </a:r>
          </a:p>
        </p:txBody>
      </p:sp>
      <p:sp>
        <p:nvSpPr>
          <p:cNvPr id="8" name="">
            <a:extLst xmlns:a="http://schemas.openxmlformats.org/drawingml/2006/main">
              <a:ext uri="{FF2B5EF4-FFF2-40B4-BE49-F238E27FC236}">
                <a16:creationId xmlns:a16="http://schemas.microsoft.com/office/drawing/2014/main" id="{CDB9F5E9-BC97-4D85-A048-2945AFB2A4B6}"/>
              </a:ext>
            </a:extLst>
          </p:cNvPr>
          <p:cNvSpPr>
            <a:spLocks xmlns:a="http://schemas.openxmlformats.org/drawingml/2006/main" noGrp="1"/>
          </p:cNvSpPr>
          <p:nvPr/>
        </p:nvSpPr>
        <p:spPr>
          <a:xfrm xmlns:a="http://schemas.openxmlformats.org/drawingml/2006/main">
            <a:off x="4762500" y="2952750"/>
            <a:ext cx="2667000" cy="116205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2100">
                <a:solidFill>
                  <a:srgbClr val="F2F7FA"/>
                </a:solidFill>
                <a:latin typeface="Arial"/>
                <a:ea typeface="Arial"/>
                <a:cs typeface="Arial"/>
              </a:defRPr>
            </a:pPr>
            <a:r>
              <a:rPr sz="2100">
                <a:solidFill>
                  <a:srgbClr val="F2F7FA"/>
                </a:solidFill>
                <a:latin typeface="Arial"/>
                <a:ea typeface="Arial"/>
                <a:cs typeface="Arial"/>
              </a:rPr>
              <a:t>12-hour</a:t>
            </a:r>
          </a:p>
          <a:p xmlns:a="http://schemas.openxmlformats.org/drawingml/2006/main">
            <a:pPr algn="ctr">
              <a:defRPr sz="2100">
                <a:solidFill>
                  <a:srgbClr val="F2F7FA"/>
                </a:solidFill>
                <a:latin typeface="Arial"/>
                <a:ea typeface="Arial"/>
                <a:cs typeface="Arial"/>
              </a:defRPr>
            </a:pPr>
            <a:r>
              <a:rPr sz="2100">
                <a:solidFill>
                  <a:srgbClr val="F2F7FA"/>
                </a:solidFill>
                <a:latin typeface="Arial"/>
                <a:ea typeface="Arial"/>
                <a:cs typeface="Arial"/>
              </a:rPr>
              <a:t>solar-surplus profile</a:t>
            </a:r>
          </a:p>
        </p:txBody>
      </p:sp>
      <p:sp>
        <p:nvSpPr>
          <p:cNvPr id="9" name="">
            <a:extLst xmlns:a="http://schemas.openxmlformats.org/drawingml/2006/main">
              <a:ext uri="{FF2B5EF4-FFF2-40B4-BE49-F238E27FC236}">
                <a16:creationId xmlns:a16="http://schemas.microsoft.com/office/drawing/2014/main" id="{AF54411B-6117-4D5F-ADF8-54069D956669}"/>
              </a:ext>
            </a:extLst>
          </p:cNvPr>
          <p:cNvSpPr>
            <a:spLocks xmlns:a="http://schemas.openxmlformats.org/drawingml/2006/main" noGrp="1"/>
          </p:cNvSpPr>
          <p:nvPr/>
        </p:nvSpPr>
        <p:spPr>
          <a:xfrm xmlns:a="http://schemas.openxmlformats.org/drawingml/2006/main">
            <a:off x="9144000" y="2952750"/>
            <a:ext cx="2428875" cy="116205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950">
                <a:solidFill>
                  <a:srgbClr val="F2F7FA"/>
                </a:solidFill>
                <a:latin typeface="Arial"/>
                <a:ea typeface="Arial"/>
                <a:cs typeface="Arial"/>
              </a:defRPr>
            </a:pPr>
            <a:r>
              <a:rPr sz="1950">
                <a:solidFill>
                  <a:srgbClr val="F2F7FA"/>
                </a:solidFill>
                <a:latin typeface="Arial"/>
                <a:ea typeface="Arial"/>
                <a:cs typeface="Arial"/>
              </a:rPr>
              <a:t>Operator</a:t>
            </a:r>
          </a:p>
          <a:p xmlns:a="http://schemas.openxmlformats.org/drawingml/2006/main">
            <a:pPr algn="ctr">
              <a:defRPr sz="1950">
                <a:solidFill>
                  <a:srgbClr val="F2F7FA"/>
                </a:solidFill>
                <a:latin typeface="Arial"/>
                <a:ea typeface="Arial"/>
                <a:cs typeface="Arial"/>
              </a:defRPr>
            </a:pPr>
            <a:r>
              <a:rPr sz="1950">
                <a:solidFill>
                  <a:srgbClr val="F2F7FA"/>
                </a:solidFill>
                <a:latin typeface="Arial"/>
                <a:ea typeface="Arial"/>
                <a:cs typeface="Arial"/>
              </a:rPr>
              <a:t>reviews the evidence</a:t>
            </a:r>
          </a:p>
        </p:txBody>
      </p:sp>
      <p:cxnSp>
        <p:nvCxnSpPr>
          <p:cNvPr id="28" name=""/>
          <p:cNvCxnSpPr>
            <a:stCxn xmlns:a="http://schemas.openxmlformats.org/drawingml/2006/main" id="5" idx="3"/>
            <a:endCxn xmlns:a="http://schemas.openxmlformats.org/drawingml/2006/main" id="8" idx="1"/>
          </p:cNvCxnSpPr>
          <p:nvPr/>
        </p:nvCxnSpPr>
        <p:spPr>
          <a:xfrm xmlns:a="http://schemas.openxmlformats.org/drawingml/2006/main">
            <a:off x="3038475" y="2890838"/>
            <a:ext cx="1724025" cy="642938"/>
          </a:xfrm>
          <a:prstGeom xmlns:a="http://schemas.openxmlformats.org/drawingml/2006/main" prst="bentConnector3">
            <a:avLst>
              <a:gd name="adj1" fmla="val 50000"/>
            </a:avLst>
          </a:prstGeom>
          <a:ln xmlns:a="http://schemas.openxmlformats.org/drawingml/2006/main" w="19050">
            <a:solidFill>
              <a:srgbClr val="82D4E5"/>
            </a:solidFill>
            <a:prstDash val="solid"/>
            <a:tailEnd type="triangle" w="med" len="med"/>
          </a:ln>
        </p:spPr>
      </p:cxnSp>
      <p:cxnSp>
        <p:nvCxnSpPr>
          <p:cNvPr id="29" name=""/>
          <p:cNvCxnSpPr>
            <a:stCxn xmlns:a="http://schemas.openxmlformats.org/drawingml/2006/main" id="6" idx="3"/>
            <a:endCxn xmlns:a="http://schemas.openxmlformats.org/drawingml/2006/main" id="8" idx="1"/>
          </p:cNvCxnSpPr>
          <p:nvPr/>
        </p:nvCxnSpPr>
        <p:spPr>
          <a:xfrm xmlns:a="http://schemas.openxmlformats.org/drawingml/2006/main" flipV="1">
            <a:off x="3038475" y="3533775"/>
            <a:ext cx="1724025" cy="52388"/>
          </a:xfrm>
          <a:prstGeom xmlns:a="http://schemas.openxmlformats.org/drawingml/2006/main" prst="bentConnector3">
            <a:avLst>
              <a:gd name="adj1" fmla="val 50000"/>
            </a:avLst>
          </a:prstGeom>
          <a:ln xmlns:a="http://schemas.openxmlformats.org/drawingml/2006/main" w="19050">
            <a:solidFill>
              <a:srgbClr val="82D4E5"/>
            </a:solidFill>
            <a:prstDash val="solid"/>
            <a:tailEnd type="triangle" w="med" len="med"/>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flipV="1">
            <a:off x="3038475" y="3533775"/>
            <a:ext cx="1724025" cy="747713"/>
          </a:xfrm>
          <a:prstGeom xmlns:a="http://schemas.openxmlformats.org/drawingml/2006/main" prst="bentConnector3">
            <a:avLst>
              <a:gd name="adj1" fmla="val 50000"/>
            </a:avLst>
          </a:prstGeom>
          <a:ln xmlns:a="http://schemas.openxmlformats.org/drawingml/2006/main" w="19050">
            <a:solidFill>
              <a:srgbClr val="82D4E5"/>
            </a:solidFill>
            <a:prstDash val="solid"/>
            <a:tailEnd type="triangle" w="med" len="med"/>
          </a:ln>
        </p:spPr>
      </p:cxn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7429500" y="3533775"/>
            <a:ext cx="1714500" cy="0"/>
          </a:xfrm>
          <a:prstGeom xmlns:a="http://schemas.openxmlformats.org/drawingml/2006/main" prst="straightConnector1">
            <a:avLst/>
          </a:prstGeom>
          <a:ln xmlns:a="http://schemas.openxmlformats.org/drawingml/2006/main" w="19050">
            <a:solidFill>
              <a:srgbClr val="E8B362"/>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2C3BD79A-1599-43E6-9B7E-A60474C9E489}"/>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5" name="">
            <a:extLst xmlns:a="http://schemas.openxmlformats.org/drawingml/2006/main">
              <a:ext uri="{FF2B5EF4-FFF2-40B4-BE49-F238E27FC236}">
                <a16:creationId xmlns:a16="http://schemas.microsoft.com/office/drawing/2014/main" id="{A3CFAFF4-4C46-4DF6-90FE-05A046D7B90C}"/>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Estimates additional power and energy by interval.</a:t>
            </a:r>
          </a:p>
        </p:txBody>
      </p:sp>
      <p:sp>
        <p:nvSpPr>
          <p:cNvPr id="16" name="">
            <a:extLst xmlns:a="http://schemas.openxmlformats.org/drawingml/2006/main">
              <a:ext uri="{FF2B5EF4-FFF2-40B4-BE49-F238E27FC236}">
                <a16:creationId xmlns:a16="http://schemas.microsoft.com/office/drawing/2014/main" id="{84C49D8D-79E0-481F-AF76-00C0259B44CD}"/>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7" name="">
            <a:extLst xmlns:a="http://schemas.openxmlformats.org/drawingml/2006/main">
              <a:ext uri="{FF2B5EF4-FFF2-40B4-BE49-F238E27FC236}">
                <a16:creationId xmlns:a16="http://schemas.microsoft.com/office/drawing/2014/main" id="{30850701-1351-47E0-9E76-F4A86E051E82}"/>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A reading taken now does not establish future availability.</a:t>
            </a:r>
          </a:p>
        </p:txBody>
      </p:sp>
      <p:sp>
        <p:nvSpPr>
          <p:cNvPr id="18" name="">
            <a:extLst xmlns:a="http://schemas.openxmlformats.org/drawingml/2006/main">
              <a:ext uri="{FF2B5EF4-FFF2-40B4-BE49-F238E27FC236}">
                <a16:creationId xmlns:a16="http://schemas.microsoft.com/office/drawing/2014/main" id="{66D3CE35-6E63-47E8-9A0D-C946273661C6}"/>
              </a:ext>
            </a:extLst>
          </p:cNvPr>
          <p:cNvSpPr>
            <a:spLocks xmlns:a="http://schemas.openxmlformats.org/drawingml/2006/main" noGrp="1"/>
          </p:cNvSpPr>
          <p:nvPr/>
        </p:nvSpPr>
        <p:spPr>
          <a:xfrm xmlns:a="http://schemas.openxmlformats.org/drawingml/2006/main">
            <a:off x="609600" y="6410325"/>
            <a:ext cx="1019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4C9D5"/>
                </a:solidFill>
                <a:latin typeface="Arial"/>
                <a:ea typeface="Arial"/>
                <a:cs typeface="Arial"/>
              </a:defRPr>
            </a:pPr>
            <a:r>
              <a:rPr sz="1200" b="0">
                <a:solidFill>
                  <a:srgbClr val="B4C9D5"/>
                </a:solidFill>
                <a:latin typeface="Arial"/>
                <a:ea typeface="Arial"/>
                <a:cs typeface="Arial"/>
              </a:rPr>
              <a:t>MVP scope: synthetic weather factors, constant demand, zero battery discharge</a:t>
            </a:r>
          </a:p>
        </p:txBody>
      </p:sp>
    </p:spTree>
    <p:extLst>
      <p:ext uri="{BB962C8B-B14F-4D97-AF65-F5344CB8AC3E}">
        <p14:creationId xmlns:p14="http://schemas.microsoft.com/office/powerpoint/2010/main" val="1467335502"/>
      </p:ext>
    </p:extLst>
  </p:cSld>
</p:sld>
</file>

<file path=ppt/slides/slide3.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D0DC8E8-9120-425F-917D-3DA88B520D36}"/>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Checkpoint 2   Tools and persistent state</a:t>
            </a:r>
          </a:p>
        </p:txBody>
      </p:sp>
      <p:sp>
        <p:nvSpPr>
          <p:cNvPr id="2" name="">
            <a:extLst xmlns:a="http://schemas.openxmlformats.org/drawingml/2006/main">
              <a:ext uri="{FF2B5EF4-FFF2-40B4-BE49-F238E27FC236}">
                <a16:creationId xmlns:a16="http://schemas.microsoft.com/office/drawing/2014/main" id="{DCC8B599-5FD1-4403-90D4-7DA6CEFE0350}"/>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One workflow connects the components</a:t>
            </a:r>
          </a:p>
        </p:txBody>
      </p:sp>
      <p:sp>
        <p:nvSpPr>
          <p:cNvPr id="3" name="">
            <a:extLst xmlns:a="http://schemas.openxmlformats.org/drawingml/2006/main">
              <a:ext uri="{FF2B5EF4-FFF2-40B4-BE49-F238E27FC236}">
                <a16:creationId xmlns:a16="http://schemas.microsoft.com/office/drawing/2014/main" id="{124B814A-4E9A-48BE-BE96-89099BCECA92}"/>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3 / 10</a:t>
            </a:r>
          </a:p>
        </p:txBody>
      </p:sp>
      <p:sp>
        <p:nvSpPr>
          <p:cNvPr id="4" name="">
            <a:extLst xmlns:a="http://schemas.openxmlformats.org/drawingml/2006/main">
              <a:ext uri="{FF2B5EF4-FFF2-40B4-BE49-F238E27FC236}">
                <a16:creationId xmlns:a16="http://schemas.microsoft.com/office/drawing/2014/main" id="{C03D2834-02F1-4E06-BE77-4D796D3A153A}"/>
              </a:ext>
            </a:extLst>
          </p:cNvPr>
          <p:cNvSpPr>
            <a:spLocks xmlns:a="http://schemas.openxmlformats.org/drawingml/2006/main" noGrp="1"/>
          </p:cNvSpPr>
          <p:nvPr/>
        </p:nvSpPr>
        <p:spPr>
          <a:xfrm xmlns:a="http://schemas.openxmlformats.org/drawingml/2006/main">
            <a:off x="609600" y="2009775"/>
            <a:ext cx="2238375" cy="100012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Read inputs</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T1 / T2  MCP</a:t>
            </a:r>
          </a:p>
        </p:txBody>
      </p:sp>
      <p:sp>
        <p:nvSpPr>
          <p:cNvPr id="5" name="">
            <a:extLst xmlns:a="http://schemas.openxmlformats.org/drawingml/2006/main">
              <a:ext uri="{FF2B5EF4-FFF2-40B4-BE49-F238E27FC236}">
                <a16:creationId xmlns:a16="http://schemas.microsoft.com/office/drawing/2014/main" id="{BCC3F57F-E0DE-47D6-A292-7786798B8EF9}"/>
              </a:ext>
            </a:extLst>
          </p:cNvPr>
          <p:cNvSpPr>
            <a:spLocks xmlns:a="http://schemas.openxmlformats.org/drawingml/2006/main" noGrp="1"/>
          </p:cNvSpPr>
          <p:nvPr/>
        </p:nvSpPr>
        <p:spPr>
          <a:xfrm xmlns:a="http://schemas.openxmlformats.org/drawingml/2006/main">
            <a:off x="3505200" y="2009775"/>
            <a:ext cx="2238375" cy="100012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Validate evidence</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T3  Units and freshness</a:t>
            </a:r>
          </a:p>
        </p:txBody>
      </p:sp>
      <p:sp>
        <p:nvSpPr>
          <p:cNvPr id="6" name="">
            <a:extLst xmlns:a="http://schemas.openxmlformats.org/drawingml/2006/main">
              <a:ext uri="{FF2B5EF4-FFF2-40B4-BE49-F238E27FC236}">
                <a16:creationId xmlns:a16="http://schemas.microsoft.com/office/drawing/2014/main" id="{D0FC5A1A-1236-4B0B-93BF-EE10131213FB}"/>
              </a:ext>
            </a:extLst>
          </p:cNvPr>
          <p:cNvSpPr>
            <a:spLocks xmlns:a="http://schemas.openxmlformats.org/drawingml/2006/main" noGrp="1"/>
          </p:cNvSpPr>
          <p:nvPr/>
        </p:nvSpPr>
        <p:spPr>
          <a:xfrm xmlns:a="http://schemas.openxmlformats.org/drawingml/2006/main">
            <a:off x="6400800" y="2009775"/>
            <a:ext cx="2238375" cy="100012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Calculate profile</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T4 / T5 / T6  Python</a:t>
            </a:r>
          </a:p>
        </p:txBody>
      </p:sp>
      <p:sp>
        <p:nvSpPr>
          <p:cNvPr id="7" name="">
            <a:extLst xmlns:a="http://schemas.openxmlformats.org/drawingml/2006/main">
              <a:ext uri="{FF2B5EF4-FFF2-40B4-BE49-F238E27FC236}">
                <a16:creationId xmlns:a16="http://schemas.microsoft.com/office/drawing/2014/main" id="{A37FD786-F957-436F-AC13-F3B670FDFC6B}"/>
              </a:ext>
            </a:extLst>
          </p:cNvPr>
          <p:cNvSpPr>
            <a:spLocks xmlns:a="http://schemas.openxmlformats.org/drawingml/2006/main" noGrp="1"/>
          </p:cNvSpPr>
          <p:nvPr/>
        </p:nvSpPr>
        <p:spPr>
          <a:xfrm xmlns:a="http://schemas.openxmlformats.org/drawingml/2006/main">
            <a:off x="9296400" y="2009775"/>
            <a:ext cx="2238375" cy="1000125"/>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Publish or withhold</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T7  Final recheck</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847975" y="2509838"/>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5743575" y="2509838"/>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8639175" y="2509838"/>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9CFB2523-88E9-4745-85EB-B36F1C1C89DF}"/>
              </a:ext>
            </a:extLst>
          </p:cNvPr>
          <p:cNvSpPr>
            <a:spLocks xmlns:a="http://schemas.openxmlformats.org/drawingml/2006/main" noGrp="1"/>
          </p:cNvSpPr>
          <p:nvPr/>
        </p:nvSpPr>
        <p:spPr>
          <a:xfrm xmlns:a="http://schemas.openxmlformats.org/drawingml/2006/main">
            <a:off x="5953125" y="3686175"/>
            <a:ext cx="3124200" cy="8763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Qualified memory + bounded model roles</a:t>
            </a:r>
          </a:p>
        </p:txBody>
      </p:sp>
      <p:cxnSp>
        <p:nvCxnSpPr>
          <p:cNvPr id="31" name=""/>
          <p:cNvCxnSpPr>
            <a:stCxn xmlns:a="http://schemas.openxmlformats.org/drawingml/2006/main" id="6" idx="2"/>
            <a:endCxn xmlns:a="http://schemas.openxmlformats.org/drawingml/2006/main" id="11" idx="0"/>
          </p:cNvCxnSpPr>
          <p:nvPr/>
        </p:nvCxnSpPr>
        <p:spPr>
          <a:xfrm xmlns:a="http://schemas.openxmlformats.org/drawingml/2006/main" flipH="1">
            <a:off x="7515225" y="3009900"/>
            <a:ext cx="4763" cy="676275"/>
          </a:xfrm>
          <a:prstGeom xmlns:a="http://schemas.openxmlformats.org/drawingml/2006/main" prst="bentConnector4">
            <a:avLst>
              <a:gd name="adj1" fmla="val 0"/>
              <a:gd name="adj2" fmla="val 50000"/>
            </a:avLst>
          </a:prstGeom>
          <a:ln xmlns:a="http://schemas.openxmlformats.org/drawingml/2006/main" w="19050">
            <a:solidFill>
              <a:srgbClr val="E8B362"/>
            </a:solidFill>
            <a:prstDash val="dash"/>
            <a:tailEnd type="triangle" w="med" len="med"/>
          </a:ln>
        </p:spPr>
      </p:cxnSp>
      <p:cxnSp>
        <p:nvCxnSpPr>
          <p:cNvPr id="32" name=""/>
          <p:cNvCxnSpPr>
            <a:stCxn xmlns:a="http://schemas.openxmlformats.org/drawingml/2006/main" id="11" idx="3"/>
            <a:endCxn xmlns:a="http://schemas.openxmlformats.org/drawingml/2006/main" id="7" idx="2"/>
          </p:cNvCxnSpPr>
          <p:nvPr/>
        </p:nvCxnSpPr>
        <p:spPr>
          <a:xfrm xmlns:a="http://schemas.openxmlformats.org/drawingml/2006/main" flipV="1">
            <a:off x="9077325" y="3009900"/>
            <a:ext cx="1338263" cy="1114425"/>
          </a:xfrm>
          <a:prstGeom xmlns:a="http://schemas.openxmlformats.org/drawingml/2006/main" prst="bentConnector2">
            <a:avLst/>
          </a:prstGeom>
          <a:ln xmlns:a="http://schemas.openxmlformats.org/drawingml/2006/main" w="19050">
            <a:solidFill>
              <a:srgbClr val="E8B362"/>
            </a:solidFill>
            <a:prstDash val="dash"/>
            <a:tailEnd type="triangle" w="med" len="med"/>
          </a:ln>
        </p:spPr>
      </p:cxnSp>
      <p:sp>
        <p:nvSpPr>
          <p:cNvPr id="14" name="">
            <a:extLst xmlns:a="http://schemas.openxmlformats.org/drawingml/2006/main">
              <a:ext uri="{FF2B5EF4-FFF2-40B4-BE49-F238E27FC236}">
                <a16:creationId xmlns:a16="http://schemas.microsoft.com/office/drawing/2014/main" id="{4D417870-C217-4F32-B682-C963D55ADD23}"/>
              </a:ext>
            </a:extLst>
          </p:cNvPr>
          <p:cNvSpPr>
            <a:spLocks xmlns:a="http://schemas.openxmlformats.org/drawingml/2006/main" noGrp="1"/>
          </p:cNvSpPr>
          <p:nvPr/>
        </p:nvSpPr>
        <p:spPr>
          <a:xfrm xmlns:a="http://schemas.openxmlformats.org/drawingml/2006/main">
            <a:off x="609600" y="38290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8B362"/>
                </a:solidFill>
                <a:latin typeface="Arial"/>
                <a:ea typeface="Arial"/>
                <a:cs typeface="Arial"/>
              </a:defRPr>
            </a:pPr>
            <a:r>
              <a:rPr sz="1875" b="0">
                <a:solidFill>
                  <a:srgbClr val="E8B362"/>
                </a:solidFill>
                <a:latin typeface="Arial"/>
                <a:ea typeface="Arial"/>
                <a:cs typeface="Arial"/>
              </a:rPr>
              <a:t>Only when the route needs interpretation</a:t>
            </a:r>
          </a:p>
        </p:txBody>
      </p:sp>
      <p:sp>
        <p:nvSpPr>
          <p:cNvPr id="15" name="">
            <a:extLst xmlns:a="http://schemas.openxmlformats.org/drawingml/2006/main">
              <a:ext uri="{FF2B5EF4-FFF2-40B4-BE49-F238E27FC236}">
                <a16:creationId xmlns:a16="http://schemas.microsoft.com/office/drawing/2014/main" id="{5D006F93-4B83-4597-83B6-99503AD8ABCA}"/>
              </a:ext>
            </a:extLst>
          </p:cNvPr>
          <p:cNvSpPr>
            <a:spLocks xmlns:a="http://schemas.openxmlformats.org/drawingml/2006/main" noGrp="1"/>
          </p:cNvSpPr>
          <p:nvPr/>
        </p:nvSpPr>
        <p:spPr>
          <a:xfrm xmlns:a="http://schemas.openxmlformats.org/drawingml/2006/main">
            <a:off x="609600" y="4829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4C9D5"/>
                </a:solidFill>
                <a:latin typeface="Arial"/>
                <a:ea typeface="Arial"/>
                <a:cs typeface="Arial"/>
              </a:defRPr>
            </a:pPr>
            <a:r>
              <a:rPr sz="1575" b="0">
                <a:solidFill>
                  <a:srgbClr val="B4C9D5"/>
                </a:solidFill>
                <a:latin typeface="Arial"/>
                <a:ea typeface="Arial"/>
                <a:cs typeface="Arial"/>
              </a:rPr>
              <a:t>PostgreSQL stores evidence and results. LangGraph checkpoints store workflow progress.</a:t>
            </a:r>
          </a:p>
        </p:txBody>
      </p:sp>
      <p:sp>
        <p:nvSpPr>
          <p:cNvPr id="16" name="">
            <a:extLst xmlns:a="http://schemas.openxmlformats.org/drawingml/2006/main">
              <a:ext uri="{FF2B5EF4-FFF2-40B4-BE49-F238E27FC236}">
                <a16:creationId xmlns:a16="http://schemas.microsoft.com/office/drawing/2014/main" id="{8C9DF130-C6ED-4F64-98CA-2F805D9F3606}"/>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7" name="">
            <a:extLst xmlns:a="http://schemas.openxmlformats.org/drawingml/2006/main">
              <a:ext uri="{FF2B5EF4-FFF2-40B4-BE49-F238E27FC236}">
                <a16:creationId xmlns:a16="http://schemas.microsoft.com/office/drawing/2014/main" id="{D99EFAFE-12A2-43BF-A381-1FA68770BCA3}"/>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Runs the evidence-to-decision sequence automatically after a request.</a:t>
            </a:r>
          </a:p>
        </p:txBody>
      </p:sp>
      <p:sp>
        <p:nvSpPr>
          <p:cNvPr id="18" name="">
            <a:extLst xmlns:a="http://schemas.openxmlformats.org/drawingml/2006/main">
              <a:ext uri="{FF2B5EF4-FFF2-40B4-BE49-F238E27FC236}">
                <a16:creationId xmlns:a16="http://schemas.microsoft.com/office/drawing/2014/main" id="{E4F1D969-9EC2-4B3C-82EA-EA4BE840B1D8}"/>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9" name="">
            <a:extLst xmlns:a="http://schemas.openxmlformats.org/drawingml/2006/main">
              <a:ext uri="{FF2B5EF4-FFF2-40B4-BE49-F238E27FC236}">
                <a16:creationId xmlns:a16="http://schemas.microsoft.com/office/drawing/2014/main" id="{9BFD4C86-6D59-4860-8195-B359D33FD392}"/>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Every result can be traced to inputs, calculations, and a stopping decision.</a:t>
            </a:r>
          </a:p>
        </p:txBody>
      </p:sp>
    </p:spTree>
    <p:extLst>
      <p:ext uri="{BB962C8B-B14F-4D97-AF65-F5344CB8AC3E}">
        <p14:creationId xmlns:p14="http://schemas.microsoft.com/office/powerpoint/2010/main" val="955641774"/>
      </p:ext>
    </p:extLst>
  </p:cSld>
</p:sld>
</file>

<file path=ppt/slides/slide4.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23C286-CB01-46DE-A8D7-7D4C4D2DC93B}"/>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Checkpoint 3   Retrieval and grounding</a:t>
            </a:r>
          </a:p>
        </p:txBody>
      </p:sp>
      <p:sp>
        <p:nvSpPr>
          <p:cNvPr id="2" name="">
            <a:extLst xmlns:a="http://schemas.openxmlformats.org/drawingml/2006/main">
              <a:ext uri="{FF2B5EF4-FFF2-40B4-BE49-F238E27FC236}">
                <a16:creationId xmlns:a16="http://schemas.microsoft.com/office/drawing/2014/main" id="{983150B2-FDFF-461A-8712-4C19BA339CDB}"/>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Memory adds relevant experience</a:t>
            </a:r>
          </a:p>
        </p:txBody>
      </p:sp>
      <p:sp>
        <p:nvSpPr>
          <p:cNvPr id="3" name="">
            <a:extLst xmlns:a="http://schemas.openxmlformats.org/drawingml/2006/main">
              <a:ext uri="{FF2B5EF4-FFF2-40B4-BE49-F238E27FC236}">
                <a16:creationId xmlns:a16="http://schemas.microsoft.com/office/drawing/2014/main" id="{234DC4FF-FBAC-4038-80B9-DCCB2CCF9C93}"/>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4 / 10</a:t>
            </a:r>
          </a:p>
        </p:txBody>
      </p:sp>
      <p:sp>
        <p:nvSpPr>
          <p:cNvPr id="4" name="">
            <a:extLst xmlns:a="http://schemas.openxmlformats.org/drawingml/2006/main">
              <a:ext uri="{FF2B5EF4-FFF2-40B4-BE49-F238E27FC236}">
                <a16:creationId xmlns:a16="http://schemas.microsoft.com/office/drawing/2014/main" id="{23D1FEA3-7FA1-4921-AD19-151AAA93AA41}"/>
              </a:ext>
            </a:extLst>
          </p:cNvPr>
          <p:cNvSpPr>
            <a:spLocks xmlns:a="http://schemas.openxmlformats.org/drawingml/2006/main" noGrp="1"/>
          </p:cNvSpPr>
          <p:nvPr/>
        </p:nvSpPr>
        <p:spPr>
          <a:xfrm xmlns:a="http://schemas.openxmlformats.org/drawingml/2006/main">
            <a:off x="609600" y="2209800"/>
            <a:ext cx="2238375" cy="114300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Compare outcomes</a:t>
            </a:r>
          </a:p>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Forecast vs newer sample</a:t>
            </a:r>
          </a:p>
        </p:txBody>
      </p:sp>
      <p:sp>
        <p:nvSpPr>
          <p:cNvPr id="5" name="">
            <a:extLst xmlns:a="http://schemas.openxmlformats.org/drawingml/2006/main">
              <a:ext uri="{FF2B5EF4-FFF2-40B4-BE49-F238E27FC236}">
                <a16:creationId xmlns:a16="http://schemas.microsoft.com/office/drawing/2014/main" id="{65DEF66B-3AC9-4A32-826D-70D472852834}"/>
              </a:ext>
            </a:extLst>
          </p:cNvPr>
          <p:cNvSpPr>
            <a:spLocks xmlns:a="http://schemas.openxmlformats.org/drawingml/2006/main" noGrp="1"/>
          </p:cNvSpPr>
          <p:nvPr/>
        </p:nvSpPr>
        <p:spPr>
          <a:xfrm xmlns:a="http://schemas.openxmlformats.org/drawingml/2006/main">
            <a:off x="3505200" y="2209800"/>
            <a:ext cx="2238375" cy="114300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Admit memory</a:t>
            </a:r>
          </a:p>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Qualified records only</a:t>
            </a:r>
          </a:p>
        </p:txBody>
      </p:sp>
      <p:sp>
        <p:nvSpPr>
          <p:cNvPr id="6" name="">
            <a:extLst xmlns:a="http://schemas.openxmlformats.org/drawingml/2006/main">
              <a:ext uri="{FF2B5EF4-FFF2-40B4-BE49-F238E27FC236}">
                <a16:creationId xmlns:a16="http://schemas.microsoft.com/office/drawing/2014/main" id="{5E5C92B1-D5AD-4784-8618-866DF4C8E364}"/>
              </a:ext>
            </a:extLst>
          </p:cNvPr>
          <p:cNvSpPr>
            <a:spLocks xmlns:a="http://schemas.openxmlformats.org/drawingml/2006/main" noGrp="1"/>
          </p:cNvSpPr>
          <p:nvPr/>
        </p:nvSpPr>
        <p:spPr>
          <a:xfrm xmlns:a="http://schemas.openxmlformats.org/drawingml/2006/main">
            <a:off x="6400800" y="2209800"/>
            <a:ext cx="2238375" cy="114300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Retrieve 5</a:t>
            </a:r>
          </a:p>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Local vector search</a:t>
            </a:r>
          </a:p>
        </p:txBody>
      </p:sp>
      <p:sp>
        <p:nvSpPr>
          <p:cNvPr id="7" name="">
            <a:extLst xmlns:a="http://schemas.openxmlformats.org/drawingml/2006/main">
              <a:ext uri="{FF2B5EF4-FFF2-40B4-BE49-F238E27FC236}">
                <a16:creationId xmlns:a16="http://schemas.microsoft.com/office/drawing/2014/main" id="{C76FF671-8830-4A25-92BB-FD4537E2F88C}"/>
              </a:ext>
            </a:extLst>
          </p:cNvPr>
          <p:cNvSpPr>
            <a:spLocks xmlns:a="http://schemas.openxmlformats.org/drawingml/2006/main" noGrp="1"/>
          </p:cNvSpPr>
          <p:nvPr/>
        </p:nvSpPr>
        <p:spPr>
          <a:xfrm xmlns:a="http://schemas.openxmlformats.org/drawingml/2006/main">
            <a:off x="9296400" y="2209800"/>
            <a:ext cx="2238375" cy="1143000"/>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Keep at most 3</a:t>
            </a:r>
          </a:p>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Filter and deduplicate</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2847975" y="2781300"/>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5743575" y="2781300"/>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8639175" y="2781300"/>
            <a:ext cx="657225"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70BAE9F4-7376-4116-9B16-F8418F54FE52}"/>
              </a:ext>
            </a:extLst>
          </p:cNvPr>
          <p:cNvSpPr>
            <a:spLocks xmlns:a="http://schemas.openxmlformats.org/drawingml/2006/main" noGrp="1"/>
          </p:cNvSpPr>
          <p:nvPr/>
        </p:nvSpPr>
        <p:spPr>
          <a:xfrm xmlns:a="http://schemas.openxmlformats.org/drawingml/2006/main">
            <a:off x="6858000" y="4095750"/>
            <a:ext cx="4714875" cy="66675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950">
                <a:solidFill>
                  <a:srgbClr val="F2F7FA"/>
                </a:solidFill>
                <a:latin typeface="Arial"/>
                <a:ea typeface="Arial"/>
                <a:cs typeface="Arial"/>
              </a:defRPr>
            </a:pPr>
            <a:r>
              <a:rPr sz="1950">
                <a:solidFill>
                  <a:srgbClr val="F2F7FA"/>
                </a:solidFill>
                <a:latin typeface="Arial"/>
                <a:ea typeface="Arial"/>
                <a:cs typeface="Arial"/>
              </a:rPr>
              <a:t>Cited context for model guidance</a:t>
            </a:r>
          </a:p>
        </p:txBody>
      </p:sp>
      <p:cxnSp>
        <p:nvCxnSpPr>
          <p:cNvPr id="30" name=""/>
          <p:cNvCxnSpPr>
            <a:stCxn xmlns:a="http://schemas.openxmlformats.org/drawingml/2006/main" id="7" idx="2"/>
            <a:endCxn xmlns:a="http://schemas.openxmlformats.org/drawingml/2006/main" id="11" idx="0"/>
          </p:cNvCxnSpPr>
          <p:nvPr/>
        </p:nvCxnSpPr>
        <p:spPr>
          <a:xfrm xmlns:a="http://schemas.openxmlformats.org/drawingml/2006/main" flipH="1">
            <a:off x="9215438" y="3352800"/>
            <a:ext cx="1200150" cy="742950"/>
          </a:xfrm>
          <a:prstGeom xmlns:a="http://schemas.openxmlformats.org/drawingml/2006/main" prst="bentConnector4">
            <a:avLst>
              <a:gd name="adj1" fmla="val 0"/>
              <a:gd name="adj2" fmla="val 50000"/>
            </a:avLst>
          </a:prstGeom>
          <a:ln xmlns:a="http://schemas.openxmlformats.org/drawingml/2006/main" w="19050">
            <a:solidFill>
              <a:srgbClr val="E8B362"/>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E9B1E72C-3014-4ACD-A7CC-29A1E056B2AE}"/>
              </a:ext>
            </a:extLst>
          </p:cNvPr>
          <p:cNvSpPr>
            <a:spLocks xmlns:a="http://schemas.openxmlformats.org/drawingml/2006/main" noGrp="1"/>
          </p:cNvSpPr>
          <p:nvPr/>
        </p:nvSpPr>
        <p:spPr>
          <a:xfrm xmlns:a="http://schemas.openxmlformats.org/drawingml/2006/main">
            <a:off x="609600" y="4162425"/>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B4C9D5"/>
                </a:solidFill>
                <a:latin typeface="Arial"/>
                <a:ea typeface="Arial"/>
                <a:cs typeface="Arial"/>
              </a:defRPr>
            </a:pPr>
            <a:r>
              <a:rPr sz="1950" b="0">
                <a:solidFill>
                  <a:srgbClr val="B4C9D5"/>
                </a:solidFill>
                <a:latin typeface="Arial"/>
                <a:ea typeface="Arial"/>
                <a:cs typeface="Arial"/>
              </a:rPr>
              <a:t>Outcomes become evidence for a later run</a:t>
            </a:r>
          </a:p>
        </p:txBody>
      </p:sp>
      <p:sp>
        <p:nvSpPr>
          <p:cNvPr id="14" name="">
            <a:extLst xmlns:a="http://schemas.openxmlformats.org/drawingml/2006/main">
              <a:ext uri="{FF2B5EF4-FFF2-40B4-BE49-F238E27FC236}">
                <a16:creationId xmlns:a16="http://schemas.microsoft.com/office/drawing/2014/main" id="{81D0756A-1AD8-463D-A674-C7C7487BC37A}"/>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5" name="">
            <a:extLst xmlns:a="http://schemas.openxmlformats.org/drawingml/2006/main">
              <a:ext uri="{FF2B5EF4-FFF2-40B4-BE49-F238E27FC236}">
                <a16:creationId xmlns:a16="http://schemas.microsoft.com/office/drawing/2014/main" id="{1C899460-9311-42B1-BF81-291AB609D734}"/>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Finds relevant past outcomes and operating guidance.</a:t>
            </a:r>
          </a:p>
        </p:txBody>
      </p:sp>
      <p:sp>
        <p:nvSpPr>
          <p:cNvPr id="16" name="">
            <a:extLst xmlns:a="http://schemas.openxmlformats.org/drawingml/2006/main">
              <a:ext uri="{FF2B5EF4-FFF2-40B4-BE49-F238E27FC236}">
                <a16:creationId xmlns:a16="http://schemas.microsoft.com/office/drawing/2014/main" id="{A269EEF3-A0C5-4849-9FC7-59DDF4C33550}"/>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7" name="">
            <a:extLst xmlns:a="http://schemas.openxmlformats.org/drawingml/2006/main">
              <a:ext uri="{FF2B5EF4-FFF2-40B4-BE49-F238E27FC236}">
                <a16:creationId xmlns:a16="http://schemas.microsoft.com/office/drawing/2014/main" id="{7D457538-08E7-42CC-8594-1E9D7977B704}"/>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The agent can explain caution using evidence from an earlier run.</a:t>
            </a:r>
          </a:p>
        </p:txBody>
      </p:sp>
      <p:sp>
        <p:nvSpPr>
          <p:cNvPr id="18" name="">
            <a:extLst xmlns:a="http://schemas.openxmlformats.org/drawingml/2006/main">
              <a:ext uri="{FF2B5EF4-FFF2-40B4-BE49-F238E27FC236}">
                <a16:creationId xmlns:a16="http://schemas.microsoft.com/office/drawing/2014/main" id="{1C6E96C6-46CC-49E9-BD4D-8336A58AA014}"/>
              </a:ext>
            </a:extLst>
          </p:cNvPr>
          <p:cNvSpPr>
            <a:spLocks xmlns:a="http://schemas.openxmlformats.org/drawingml/2006/main" noGrp="1"/>
          </p:cNvSpPr>
          <p:nvPr/>
        </p:nvSpPr>
        <p:spPr>
          <a:xfrm xmlns:a="http://schemas.openxmlformats.org/drawingml/2006/main">
            <a:off x="609600" y="6410325"/>
            <a:ext cx="1019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4C9D5"/>
                </a:solidFill>
                <a:latin typeface="Arial"/>
                <a:ea typeface="Arial"/>
                <a:cs typeface="Arial"/>
              </a:defRPr>
            </a:pPr>
            <a:r>
              <a:rPr sz="1200" b="0">
                <a:solidFill>
                  <a:srgbClr val="B4C9D5"/>
                </a:solidFill>
                <a:latin typeface="Arial"/>
                <a:ea typeface="Arial"/>
                <a:cs typeface="Arial"/>
              </a:rPr>
              <a:t>Current measurements and numerical constraints stay authoritative</a:t>
            </a:r>
          </a:p>
        </p:txBody>
      </p:sp>
    </p:spTree>
    <p:extLst>
      <p:ext uri="{BB962C8B-B14F-4D97-AF65-F5344CB8AC3E}">
        <p14:creationId xmlns:p14="http://schemas.microsoft.com/office/powerpoint/2010/main" val="1732203792"/>
      </p:ext>
    </p:extLst>
  </p:cSld>
</p:sld>
</file>

<file path=ppt/slides/slide5.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9220AE2-202E-4AF8-AC5B-55E880A8C5C4}"/>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Checkpoint 4   Selective Tree of Thoughts</a:t>
            </a:r>
          </a:p>
        </p:txBody>
      </p:sp>
      <p:sp>
        <p:nvSpPr>
          <p:cNvPr id="2" name="">
            <a:extLst xmlns:a="http://schemas.openxmlformats.org/drawingml/2006/main">
              <a:ext uri="{FF2B5EF4-FFF2-40B4-BE49-F238E27FC236}">
                <a16:creationId xmlns:a16="http://schemas.microsoft.com/office/drawing/2014/main" id="{56AA4EEC-8BB0-4FF6-B0B0-7E67737F02C5}"/>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Extra reasoning has a fixed budget</a:t>
            </a:r>
          </a:p>
        </p:txBody>
      </p:sp>
      <p:sp>
        <p:nvSpPr>
          <p:cNvPr id="3" name="">
            <a:extLst xmlns:a="http://schemas.openxmlformats.org/drawingml/2006/main">
              <a:ext uri="{FF2B5EF4-FFF2-40B4-BE49-F238E27FC236}">
                <a16:creationId xmlns:a16="http://schemas.microsoft.com/office/drawing/2014/main" id="{C564DE77-06CA-4B34-9415-57FD26754050}"/>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5 / 10</a:t>
            </a:r>
          </a:p>
        </p:txBody>
      </p:sp>
      <p:sp>
        <p:nvSpPr>
          <p:cNvPr id="4" name="">
            <a:extLst xmlns:a="http://schemas.openxmlformats.org/drawingml/2006/main">
              <a:ext uri="{FF2B5EF4-FFF2-40B4-BE49-F238E27FC236}">
                <a16:creationId xmlns:a16="http://schemas.microsoft.com/office/drawing/2014/main" id="{509AEA87-BC10-40C3-AF5C-46891921C509}"/>
              </a:ext>
            </a:extLst>
          </p:cNvPr>
          <p:cNvSpPr>
            <a:spLocks xmlns:a="http://schemas.openxmlformats.org/drawingml/2006/main" noGrp="1"/>
          </p:cNvSpPr>
          <p:nvPr/>
        </p:nvSpPr>
        <p:spPr>
          <a:xfrm xmlns:a="http://schemas.openxmlformats.org/drawingml/2006/main">
            <a:off x="609600" y="1857375"/>
            <a:ext cx="2857500" cy="714375"/>
          </a:xfrm>
          <a:prstGeom xmlns:a="http://schemas.openxmlformats.org/drawingml/2006/main" prst="rect">
            <a:avLst/>
          </a:prstGeom>
          <a:solidFill xmlns:a="http://schemas.openxmlformats.org/drawingml/2006/main">
            <a:srgbClr val="102C3D"/>
          </a:solidFill>
          <a:ln xmlns:a="http://schemas.openxmlformats.org/drawingml/2006/main" w="15240">
            <a:solidFill>
              <a:srgbClr val="82D4E5"/>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950">
                <a:solidFill>
                  <a:srgbClr val="F2F7FA"/>
                </a:solidFill>
                <a:latin typeface="Arial"/>
                <a:ea typeface="Arial"/>
                <a:cs typeface="Arial"/>
              </a:defRPr>
            </a:pPr>
            <a:r>
              <a:rPr sz="1950">
                <a:solidFill>
                  <a:srgbClr val="F2F7FA"/>
                </a:solidFill>
                <a:latin typeface="Arial"/>
                <a:ea typeface="Arial"/>
                <a:cs typeface="Arial"/>
              </a:rPr>
              <a:t>Routine evidence</a:t>
            </a:r>
          </a:p>
        </p:txBody>
      </p:sp>
      <p:sp>
        <p:nvSpPr>
          <p:cNvPr id="5" name="">
            <a:extLst xmlns:a="http://schemas.openxmlformats.org/drawingml/2006/main">
              <a:ext uri="{FF2B5EF4-FFF2-40B4-BE49-F238E27FC236}">
                <a16:creationId xmlns:a16="http://schemas.microsoft.com/office/drawing/2014/main" id="{8C9BB136-E780-45BF-B117-AA8180480323}"/>
              </a:ext>
            </a:extLst>
          </p:cNvPr>
          <p:cNvSpPr>
            <a:spLocks xmlns:a="http://schemas.openxmlformats.org/drawingml/2006/main" noGrp="1"/>
          </p:cNvSpPr>
          <p:nvPr/>
        </p:nvSpPr>
        <p:spPr>
          <a:xfrm xmlns:a="http://schemas.openxmlformats.org/drawingml/2006/main">
            <a:off x="8724900" y="1857375"/>
            <a:ext cx="2857500" cy="714375"/>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75">
                <a:solidFill>
                  <a:srgbClr val="F2F7FA"/>
                </a:solidFill>
                <a:latin typeface="Arial"/>
                <a:ea typeface="Arial"/>
                <a:cs typeface="Arial"/>
              </a:defRPr>
            </a:pPr>
            <a:r>
              <a:rPr sz="1875">
                <a:solidFill>
                  <a:srgbClr val="F2F7FA"/>
                </a:solidFill>
                <a:latin typeface="Arial"/>
                <a:ea typeface="Arial"/>
                <a:cs typeface="Arial"/>
              </a:rPr>
              <a:t>Final publication check</a:t>
            </a:r>
          </a:p>
        </p:txBody>
      </p: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3467100" y="2214563"/>
            <a:ext cx="5257800" cy="0"/>
          </a:xfrm>
          <a:prstGeom xmlns:a="http://schemas.openxmlformats.org/drawingml/2006/main" prst="straightConnector1">
            <a:avLst/>
          </a:prstGeom>
          <a:ln xmlns:a="http://schemas.openxmlformats.org/drawingml/2006/main" w="19050">
            <a:solidFill>
              <a:srgbClr val="82D4E5"/>
            </a:solidFill>
            <a:prstDash val="solid"/>
            <a:tailEnd type="triangle" w="med" len="med"/>
          </a:ln>
        </p:spPr>
      </p:cxnSp>
      <p:sp>
        <p:nvSpPr>
          <p:cNvPr id="7" name="">
            <a:extLst xmlns:a="http://schemas.openxmlformats.org/drawingml/2006/main">
              <a:ext uri="{FF2B5EF4-FFF2-40B4-BE49-F238E27FC236}">
                <a16:creationId xmlns:a16="http://schemas.microsoft.com/office/drawing/2014/main" id="{E0DDE62A-43E8-450C-A8CE-22B6BC020AD0}"/>
              </a:ext>
            </a:extLst>
          </p:cNvPr>
          <p:cNvSpPr>
            <a:spLocks xmlns:a="http://schemas.openxmlformats.org/drawingml/2006/main" noGrp="1"/>
          </p:cNvSpPr>
          <p:nvPr/>
        </p:nvSpPr>
        <p:spPr>
          <a:xfrm xmlns:a="http://schemas.openxmlformats.org/drawingml/2006/main">
            <a:off x="3810000" y="27051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4C9D5"/>
                </a:solidFill>
                <a:latin typeface="Arial"/>
                <a:ea typeface="Arial"/>
                <a:cs typeface="Arial"/>
              </a:defRPr>
            </a:pPr>
            <a:r>
              <a:rPr sz="1800" b="0">
                <a:solidFill>
                  <a:srgbClr val="B4C9D5"/>
                </a:solidFill>
                <a:latin typeface="Arial"/>
                <a:ea typeface="Arial"/>
                <a:cs typeface="Arial"/>
              </a:rPr>
              <a:t>Direct path without model generation</a:t>
            </a:r>
          </a:p>
        </p:txBody>
      </p:sp>
      <p:sp>
        <p:nvSpPr>
          <p:cNvPr id="8" name="">
            <a:extLst xmlns:a="http://schemas.openxmlformats.org/drawingml/2006/main">
              <a:ext uri="{FF2B5EF4-FFF2-40B4-BE49-F238E27FC236}">
                <a16:creationId xmlns:a16="http://schemas.microsoft.com/office/drawing/2014/main" id="{BDD6A939-A488-4FD5-AEED-3F0142183828}"/>
              </a:ext>
            </a:extLst>
          </p:cNvPr>
          <p:cNvSpPr>
            <a:spLocks xmlns:a="http://schemas.openxmlformats.org/drawingml/2006/main" noGrp="1"/>
          </p:cNvSpPr>
          <p:nvPr/>
        </p:nvSpPr>
        <p:spPr>
          <a:xfrm xmlns:a="http://schemas.openxmlformats.org/drawingml/2006/main">
            <a:off x="609600" y="3333750"/>
            <a:ext cx="2000250" cy="9144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Recorded ambiguity</a:t>
            </a:r>
          </a:p>
        </p:txBody>
      </p:sp>
      <p:sp>
        <p:nvSpPr>
          <p:cNvPr id="9" name="">
            <a:extLst xmlns:a="http://schemas.openxmlformats.org/drawingml/2006/main">
              <a:ext uri="{FF2B5EF4-FFF2-40B4-BE49-F238E27FC236}">
                <a16:creationId xmlns:a16="http://schemas.microsoft.com/office/drawing/2014/main" id="{D048F15A-F1A5-4E28-A7BD-CF0B7C5E1FCD}"/>
              </a:ext>
            </a:extLst>
          </p:cNvPr>
          <p:cNvSpPr>
            <a:spLocks xmlns:a="http://schemas.openxmlformats.org/drawingml/2006/main" noGrp="1"/>
          </p:cNvSpPr>
          <p:nvPr/>
        </p:nvSpPr>
        <p:spPr>
          <a:xfrm xmlns:a="http://schemas.openxmlformats.org/drawingml/2006/main">
            <a:off x="3086100" y="3333750"/>
            <a:ext cx="1762125" cy="9144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Generate 3</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alternatives</a:t>
            </a:r>
          </a:p>
        </p:txBody>
      </p:sp>
      <p:sp>
        <p:nvSpPr>
          <p:cNvPr id="10" name="">
            <a:extLst xmlns:a="http://schemas.openxmlformats.org/drawingml/2006/main">
              <a:ext uri="{FF2B5EF4-FFF2-40B4-BE49-F238E27FC236}">
                <a16:creationId xmlns:a16="http://schemas.microsoft.com/office/drawing/2014/main" id="{3100EFF7-43BD-442C-84ED-D14085170B94}"/>
              </a:ext>
            </a:extLst>
          </p:cNvPr>
          <p:cNvSpPr>
            <a:spLocks xmlns:a="http://schemas.openxmlformats.org/drawingml/2006/main" noGrp="1"/>
          </p:cNvSpPr>
          <p:nvPr/>
        </p:nvSpPr>
        <p:spPr>
          <a:xfrm xmlns:a="http://schemas.openxmlformats.org/drawingml/2006/main">
            <a:off x="5324475" y="3333750"/>
            <a:ext cx="1762125" cy="9144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Prune invalid</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candidates</a:t>
            </a:r>
          </a:p>
        </p:txBody>
      </p:sp>
      <p:sp>
        <p:nvSpPr>
          <p:cNvPr id="11" name="">
            <a:extLst xmlns:a="http://schemas.openxmlformats.org/drawingml/2006/main">
              <a:ext uri="{FF2B5EF4-FFF2-40B4-BE49-F238E27FC236}">
                <a16:creationId xmlns:a16="http://schemas.microsoft.com/office/drawing/2014/main" id="{2CDED39C-CE54-424C-800B-AF983DEC4352}"/>
              </a:ext>
            </a:extLst>
          </p:cNvPr>
          <p:cNvSpPr>
            <a:spLocks xmlns:a="http://schemas.openxmlformats.org/drawingml/2006/main" noGrp="1"/>
          </p:cNvSpPr>
          <p:nvPr/>
        </p:nvSpPr>
        <p:spPr>
          <a:xfrm xmlns:a="http://schemas.openxmlformats.org/drawingml/2006/main">
            <a:off x="7562850" y="3333750"/>
            <a:ext cx="1762125" cy="9144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Critique</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survivors</a:t>
            </a:r>
          </a:p>
        </p:txBody>
      </p:sp>
      <p:sp>
        <p:nvSpPr>
          <p:cNvPr id="12" name="">
            <a:extLst xmlns:a="http://schemas.openxmlformats.org/drawingml/2006/main">
              <a:ext uri="{FF2B5EF4-FFF2-40B4-BE49-F238E27FC236}">
                <a16:creationId xmlns:a16="http://schemas.microsoft.com/office/drawing/2014/main" id="{02037C64-6C32-4153-8D97-7D237872338C}"/>
              </a:ext>
            </a:extLst>
          </p:cNvPr>
          <p:cNvSpPr>
            <a:spLocks xmlns:a="http://schemas.openxmlformats.org/drawingml/2006/main" noGrp="1"/>
          </p:cNvSpPr>
          <p:nvPr/>
        </p:nvSpPr>
        <p:spPr>
          <a:xfrm xmlns:a="http://schemas.openxmlformats.org/drawingml/2006/main">
            <a:off x="9801225" y="3333750"/>
            <a:ext cx="1762125" cy="91440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Keep 2</a:t>
            </a:r>
          </a:p>
          <a:p xmlns:a="http://schemas.openxmlformats.org/drawingml/2006/main">
            <a:pPr algn="ctr">
              <a:defRPr sz="1725">
                <a:solidFill>
                  <a:srgbClr val="F2F7FA"/>
                </a:solidFill>
                <a:latin typeface="Arial"/>
                <a:ea typeface="Arial"/>
                <a:cs typeface="Arial"/>
              </a:defRPr>
            </a:pPr>
            <a:r>
              <a:rPr sz="1725">
                <a:solidFill>
                  <a:srgbClr val="F2F7FA"/>
                </a:solidFill>
                <a:latin typeface="Arial"/>
                <a:ea typeface="Arial"/>
                <a:cs typeface="Arial"/>
              </a:rPr>
              <a:t>best branches</a:t>
            </a:r>
          </a:p>
        </p:txBody>
      </p: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2609850" y="3790950"/>
            <a:ext cx="476250" cy="0"/>
          </a:xfrm>
          <a:prstGeom xmlns:a="http://schemas.openxmlformats.org/drawingml/2006/main" prst="straightConnector1">
            <a:avLst/>
          </a:prstGeom>
          <a:ln xmlns:a="http://schemas.openxmlformats.org/drawingml/2006/main" w="19050">
            <a:solidFill>
              <a:srgbClr val="E8B362"/>
            </a:solidFill>
            <a:prstDash val="solid"/>
            <a:tailEnd type="triangle"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4848225" y="3790950"/>
            <a:ext cx="476250" cy="0"/>
          </a:xfrm>
          <a:prstGeom xmlns:a="http://schemas.openxmlformats.org/drawingml/2006/main" prst="straightConnector1">
            <a:avLst/>
          </a:prstGeom>
          <a:ln xmlns:a="http://schemas.openxmlformats.org/drawingml/2006/main" w="19050">
            <a:solidFill>
              <a:srgbClr val="E8B362"/>
            </a:solidFill>
            <a:prstDash val="solid"/>
            <a:tailEnd type="triangle" w="med" len="med"/>
          </a:ln>
        </p:spPr>
      </p:cxnSp>
      <p:cxnSp>
        <p:nvCxnSpPr>
          <p:cNvPr id="37" name=""/>
          <p:cNvCxnSpPr>
            <a:stCxn xmlns:a="http://schemas.openxmlformats.org/drawingml/2006/main" id="10" idx="3"/>
            <a:endCxn xmlns:a="http://schemas.openxmlformats.org/drawingml/2006/main" id="11" idx="1"/>
          </p:cNvCxnSpPr>
          <p:nvPr/>
        </p:nvCxnSpPr>
        <p:spPr>
          <a:xfrm xmlns:a="http://schemas.openxmlformats.org/drawingml/2006/main">
            <a:off x="7086600" y="3790950"/>
            <a:ext cx="476250" cy="0"/>
          </a:xfrm>
          <a:prstGeom xmlns:a="http://schemas.openxmlformats.org/drawingml/2006/main" prst="straightConnector1">
            <a:avLst/>
          </a:prstGeom>
          <a:ln xmlns:a="http://schemas.openxmlformats.org/drawingml/2006/main" w="19050">
            <a:solidFill>
              <a:srgbClr val="E8B362"/>
            </a:solidFill>
            <a:prstDash val="solid"/>
            <a:tailEnd type="triangle" w="med" len="med"/>
          </a:ln>
        </p:spPr>
      </p:cxn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9324975" y="3790950"/>
            <a:ext cx="476250" cy="0"/>
          </a:xfrm>
          <a:prstGeom xmlns:a="http://schemas.openxmlformats.org/drawingml/2006/main" prst="straightConnector1">
            <a:avLst/>
          </a:prstGeom>
          <a:ln xmlns:a="http://schemas.openxmlformats.org/drawingml/2006/main" w="19050">
            <a:solidFill>
              <a:srgbClr val="E8B362"/>
            </a:solidFill>
            <a:prstDash val="solid"/>
            <a:tailEnd type="triangle" w="med" len="med"/>
          </a:ln>
        </p:spPr>
      </p:cxnSp>
      <p:cxnSp>
        <p:nvCxnSpPr>
          <p:cNvPr id="39" name=""/>
          <p:cNvCxnSpPr>
            <a:stCxn xmlns:a="http://schemas.openxmlformats.org/drawingml/2006/main" id="12" idx="0"/>
            <a:endCxn xmlns:a="http://schemas.openxmlformats.org/drawingml/2006/main" id="5" idx="2"/>
          </p:cNvCxnSpPr>
          <p:nvPr/>
        </p:nvCxnSpPr>
        <p:spPr>
          <a:xfrm xmlns:a="http://schemas.openxmlformats.org/drawingml/2006/main" flipH="1" flipV="1">
            <a:off x="10153650" y="2571750"/>
            <a:ext cx="528638" cy="762000"/>
          </a:xfrm>
          <a:prstGeom xmlns:a="http://schemas.openxmlformats.org/drawingml/2006/main" prst="bentConnector4">
            <a:avLst>
              <a:gd name="adj1" fmla="val 0"/>
              <a:gd name="adj2" fmla="val 50000"/>
            </a:avLst>
          </a:prstGeom>
          <a:ln xmlns:a="http://schemas.openxmlformats.org/drawingml/2006/main" w="19050">
            <a:solidFill>
              <a:srgbClr val="E8B362"/>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ECCEDE1B-BF51-4C88-81C9-D03870417788}"/>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4C9D5"/>
                </a:solidFill>
                <a:latin typeface="Arial"/>
                <a:ea typeface="Arial"/>
                <a:cs typeface="Arial"/>
              </a:defRPr>
            </a:pPr>
            <a:r>
              <a:rPr sz="1800" b="0">
                <a:solidFill>
                  <a:srgbClr val="B4C9D5"/>
                </a:solidFill>
                <a:latin typeface="Arial"/>
                <a:ea typeface="Arial"/>
                <a:cs typeface="Arial"/>
              </a:rPr>
              <a:t>One refinement. Depth-three submission. Eight shared model attempts maximum.</a:t>
            </a:r>
          </a:p>
        </p:txBody>
      </p:sp>
      <p:sp>
        <p:nvSpPr>
          <p:cNvPr id="19" name="">
            <a:extLst xmlns:a="http://schemas.openxmlformats.org/drawingml/2006/main">
              <a:ext uri="{FF2B5EF4-FFF2-40B4-BE49-F238E27FC236}">
                <a16:creationId xmlns:a16="http://schemas.microsoft.com/office/drawing/2014/main" id="{61C20FAE-1174-4566-8E11-81D09AF2913B}"/>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20" name="">
            <a:extLst xmlns:a="http://schemas.openxmlformats.org/drawingml/2006/main">
              <a:ext uri="{FF2B5EF4-FFF2-40B4-BE49-F238E27FC236}">
                <a16:creationId xmlns:a16="http://schemas.microsoft.com/office/drawing/2014/main" id="{0CCD0EB8-1CD4-4D28-9668-EA960F9FA2C8}"/>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Compares a few explanations when recorded evidence justifies it.</a:t>
            </a:r>
          </a:p>
        </p:txBody>
      </p:sp>
      <p:sp>
        <p:nvSpPr>
          <p:cNvPr id="21" name="">
            <a:extLst xmlns:a="http://schemas.openxmlformats.org/drawingml/2006/main">
              <a:ext uri="{FF2B5EF4-FFF2-40B4-BE49-F238E27FC236}">
                <a16:creationId xmlns:a16="http://schemas.microsoft.com/office/drawing/2014/main" id="{49D4A29F-18A8-4630-B050-2553CB817F9D}"/>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22" name="">
            <a:extLst xmlns:a="http://schemas.openxmlformats.org/drawingml/2006/main">
              <a:ext uri="{FF2B5EF4-FFF2-40B4-BE49-F238E27FC236}">
                <a16:creationId xmlns:a16="http://schemas.microsoft.com/office/drawing/2014/main" id="{09B6F1CB-8565-444C-B37B-51EBF57E170B}"/>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Simple cases stay quick, and difficult cases still terminate.</a:t>
            </a:r>
          </a:p>
        </p:txBody>
      </p:sp>
    </p:spTree>
    <p:extLst>
      <p:ext uri="{BB962C8B-B14F-4D97-AF65-F5344CB8AC3E}">
        <p14:creationId xmlns:p14="http://schemas.microsoft.com/office/powerpoint/2010/main" val="1260208937"/>
      </p:ext>
    </p:extLst>
  </p:cSld>
</p:sld>
</file>

<file path=ppt/slides/slide6.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C7DF14-B562-46EE-81CE-B4A408BBB63D}"/>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Checkpoint 5   Agent coordination</a:t>
            </a:r>
          </a:p>
        </p:txBody>
      </p:sp>
      <p:sp>
        <p:nvSpPr>
          <p:cNvPr id="2" name="">
            <a:extLst xmlns:a="http://schemas.openxmlformats.org/drawingml/2006/main">
              <a:ext uri="{FF2B5EF4-FFF2-40B4-BE49-F238E27FC236}">
                <a16:creationId xmlns:a16="http://schemas.microsoft.com/office/drawing/2014/main" id="{BC89EBA2-6492-478B-98CD-34D314A5D93B}"/>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The third role added cost in one trial</a:t>
            </a:r>
          </a:p>
        </p:txBody>
      </p:sp>
      <p:sp>
        <p:nvSpPr>
          <p:cNvPr id="3" name="">
            <a:extLst xmlns:a="http://schemas.openxmlformats.org/drawingml/2006/main">
              <a:ext uri="{FF2B5EF4-FFF2-40B4-BE49-F238E27FC236}">
                <a16:creationId xmlns:a16="http://schemas.microsoft.com/office/drawing/2014/main" id="{4DF5F6D0-F4BD-4AC6-9A25-8C0755961D2B}"/>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6 / 10</a:t>
            </a:r>
          </a:p>
        </p:txBody>
      </p:sp>
      <p:sp>
        <p:nvSpPr>
          <p:cNvPr id="4" name="">
            <a:extLst xmlns:a="http://schemas.openxmlformats.org/drawingml/2006/main">
              <a:ext uri="{FF2B5EF4-FFF2-40B4-BE49-F238E27FC236}">
                <a16:creationId xmlns:a16="http://schemas.microsoft.com/office/drawing/2014/main" id="{D92FF6E0-34F4-4277-904E-701AA428B35D}"/>
              </a:ext>
            </a:extLst>
          </p:cNvPr>
          <p:cNvSpPr>
            <a:spLocks xmlns:a="http://schemas.openxmlformats.org/drawingml/2006/main" noGrp="1"/>
          </p:cNvSpPr>
          <p:nvPr/>
        </p:nvSpPr>
        <p:spPr>
          <a:xfrm xmlns:a="http://schemas.openxmlformats.org/drawingml/2006/main">
            <a:off x="609600" y="1809750"/>
            <a:ext cx="3048000" cy="74295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75">
                <a:solidFill>
                  <a:srgbClr val="F2F7FA"/>
                </a:solidFill>
                <a:latin typeface="Arial"/>
                <a:ea typeface="Arial"/>
                <a:cs typeface="Arial"/>
              </a:defRPr>
            </a:pPr>
            <a:r>
              <a:rPr sz="1875">
                <a:solidFill>
                  <a:srgbClr val="F2F7FA"/>
                </a:solidFill>
                <a:latin typeface="Arial"/>
                <a:ea typeface="Arial"/>
                <a:cs typeface="Arial"/>
              </a:rPr>
              <a:t>Optional interpreter adds context</a:t>
            </a:r>
          </a:p>
        </p:txBody>
      </p:sp>
      <p:sp>
        <p:nvSpPr>
          <p:cNvPr id="5" name="">
            <a:extLst xmlns:a="http://schemas.openxmlformats.org/drawingml/2006/main">
              <a:ext uri="{FF2B5EF4-FFF2-40B4-BE49-F238E27FC236}">
                <a16:creationId xmlns:a16="http://schemas.microsoft.com/office/drawing/2014/main" id="{454C5717-AE66-434C-B498-E07CCA311B98}"/>
              </a:ext>
            </a:extLst>
          </p:cNvPr>
          <p:cNvSpPr>
            <a:spLocks xmlns:a="http://schemas.openxmlformats.org/drawingml/2006/main" noGrp="1"/>
          </p:cNvSpPr>
          <p:nvPr/>
        </p:nvSpPr>
        <p:spPr>
          <a:xfrm xmlns:a="http://schemas.openxmlformats.org/drawingml/2006/main">
            <a:off x="4419600" y="1809750"/>
            <a:ext cx="3048000" cy="74295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75">
                <a:solidFill>
                  <a:srgbClr val="F2F7FA"/>
                </a:solidFill>
                <a:latin typeface="Arial"/>
                <a:ea typeface="Arial"/>
                <a:cs typeface="Arial"/>
              </a:defRPr>
            </a:pPr>
            <a:r>
              <a:rPr sz="1875">
                <a:solidFill>
                  <a:srgbClr val="F2F7FA"/>
                </a:solidFill>
                <a:latin typeface="Arial"/>
                <a:ea typeface="Arial"/>
                <a:cs typeface="Arial"/>
              </a:rPr>
              <a:t>Generator proposes</a:t>
            </a:r>
          </a:p>
        </p:txBody>
      </p:sp>
      <p:sp>
        <p:nvSpPr>
          <p:cNvPr id="6" name="">
            <a:extLst xmlns:a="http://schemas.openxmlformats.org/drawingml/2006/main">
              <a:ext uri="{FF2B5EF4-FFF2-40B4-BE49-F238E27FC236}">
                <a16:creationId xmlns:a16="http://schemas.microsoft.com/office/drawing/2014/main" id="{C1E2D164-B13F-4C98-84EF-F3F128232154}"/>
              </a:ext>
            </a:extLst>
          </p:cNvPr>
          <p:cNvSpPr>
            <a:spLocks xmlns:a="http://schemas.openxmlformats.org/drawingml/2006/main" noGrp="1"/>
          </p:cNvSpPr>
          <p:nvPr/>
        </p:nvSpPr>
        <p:spPr>
          <a:xfrm xmlns:a="http://schemas.openxmlformats.org/drawingml/2006/main">
            <a:off x="8229600" y="1809750"/>
            <a:ext cx="3352800" cy="742950"/>
          </a:xfrm>
          <a:prstGeom xmlns:a="http://schemas.openxmlformats.org/drawingml/2006/main" prst="rect">
            <a:avLst/>
          </a:prstGeom>
          <a:solidFill xmlns:a="http://schemas.openxmlformats.org/drawingml/2006/main">
            <a:srgbClr val="102C3D"/>
          </a:solidFill>
          <a:ln xmlns:a="http://schemas.openxmlformats.org/drawingml/2006/main" w="15240">
            <a:solidFill>
              <a:srgbClr val="E8B362"/>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75">
                <a:solidFill>
                  <a:srgbClr val="F2F7FA"/>
                </a:solidFill>
                <a:latin typeface="Arial"/>
                <a:ea typeface="Arial"/>
                <a:cs typeface="Arial"/>
              </a:defRPr>
            </a:pPr>
            <a:r>
              <a:rPr sz="1875">
                <a:solidFill>
                  <a:srgbClr val="F2F7FA"/>
                </a:solidFill>
                <a:latin typeface="Arial"/>
                <a:ea typeface="Arial"/>
                <a:cs typeface="Arial"/>
              </a:rPr>
              <a:t>Critic evaluates</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3657600" y="2181225"/>
            <a:ext cx="762000" cy="0"/>
          </a:xfrm>
          <a:prstGeom xmlns:a="http://schemas.openxmlformats.org/drawingml/2006/main" prst="straightConnector1">
            <a:avLst/>
          </a:prstGeom>
          <a:ln xmlns:a="http://schemas.openxmlformats.org/drawingml/2006/main" w="19050">
            <a:solidFill>
              <a:srgbClr val="E8B362"/>
            </a:solidFill>
            <a:prstDash val="dash"/>
            <a:tailEnd type="triangle"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467600" y="2181225"/>
            <a:ext cx="762000" cy="0"/>
          </a:xfrm>
          <a:prstGeom xmlns:a="http://schemas.openxmlformats.org/drawingml/2006/main" prst="straightConnector1">
            <a:avLst/>
          </a:prstGeom>
          <a:ln xmlns:a="http://schemas.openxmlformats.org/drawingml/2006/main" w="19050">
            <a:solidFill>
              <a:srgbClr val="E8B362"/>
            </a:solidFill>
            <a:prstDash val="solid"/>
            <a:tailEnd type="triangle" w="med" len="med"/>
          </a:ln>
        </p:spPr>
      </p:cxnSp>
      <p:graphicFrame>
        <p:nvGraphicFramePr>
          <p:cNvPr id="24" name=""/>
          <p:cNvGraphicFramePr/>
          <p:nvPr/>
        </p:nvGraphicFramePr>
        <p:xfrm>
          <a:off xmlns:a="http://schemas.openxmlformats.org/drawingml/2006/main" x="609600" y="3000375"/>
          <a:ext xmlns:a="http://schemas.openxmlformats.org/drawingml/2006/main" cx="10972800" cy="1524000"/>
        </p:xfrm>
        <a:graphic xmlns:a="http://schemas.openxmlformats.org/drawingml/2006/main">
          <a:graphicData uri="http://schemas.openxmlformats.org/drawingml/2006/table">
            <a:tbl>
              <a:tblPr/>
              <a:tblGrid>
                <a:gridCol w="4476750"/>
                <a:gridCol w="1809750"/>
                <a:gridCol w="2095500"/>
                <a:gridCol w="2590800"/>
              </a:tblGrid>
              <a:tr h="508000">
                <a:tc>
                  <a:txBody>
                    <a:bodyPr/>
                    <a:lstStyle/>
                    <a:p>
                      <a:r>
                        <a:rPr sz="1650" b="1">
                          <a:solidFill>
                            <a:srgbClr val="82D4E5"/>
                          </a:solidFill>
                          <a:latin typeface="Arial"/>
                          <a:ea typeface="Arial"/>
                          <a:cs typeface="Arial"/>
                        </a:rPr>
                        <a:t>Same evidence snapshot</a:t>
                      </a:r>
                    </a:p>
                  </a:txBody>
                  <a:tcPr marL="152400" marR="152400" marT="95250" marB="95250" anchor="ctr">
                    <a:solidFill>
                      <a:srgbClr val="183E50"/>
                    </a:solidFill>
                  </a:tcPr>
                </a:tc>
                <a:tc>
                  <a:txBody>
                    <a:bodyPr/>
                    <a:lstStyle/>
                    <a:p>
                      <a:r>
                        <a:rPr sz="1650" b="1">
                          <a:solidFill>
                            <a:srgbClr val="82D4E5"/>
                          </a:solidFill>
                          <a:latin typeface="Arial"/>
                          <a:ea typeface="Arial"/>
                          <a:cs typeface="Arial"/>
                        </a:rPr>
                        <a:t>Model calls</a:t>
                      </a:r>
                    </a:p>
                  </a:txBody>
                  <a:tcPr marL="152400" marR="152400" marT="95250" marB="95250" anchor="ctr">
                    <a:solidFill>
                      <a:srgbClr val="183E50"/>
                    </a:solidFill>
                  </a:tcPr>
                </a:tc>
                <a:tc>
                  <a:txBody>
                    <a:bodyPr/>
                    <a:lstStyle/>
                    <a:p>
                      <a:r>
                        <a:rPr sz="1650" b="1">
                          <a:solidFill>
                            <a:srgbClr val="82D4E5"/>
                          </a:solidFill>
                          <a:latin typeface="Arial"/>
                          <a:ea typeface="Arial"/>
                          <a:cs typeface="Arial"/>
                        </a:rPr>
                        <a:t>Elapsed</a:t>
                      </a:r>
                    </a:p>
                  </a:txBody>
                  <a:tcPr marL="152400" marR="152400" marT="95250" marB="95250" anchor="ctr">
                    <a:solidFill>
                      <a:srgbClr val="183E50"/>
                    </a:solidFill>
                  </a:tcPr>
                </a:tc>
                <a:tc>
                  <a:txBody>
                    <a:bodyPr/>
                    <a:lstStyle/>
                    <a:p>
                      <a:r>
                        <a:rPr sz="1650" b="1">
                          <a:solidFill>
                            <a:srgbClr val="82D4E5"/>
                          </a:solidFill>
                          <a:latin typeface="Arial"/>
                          <a:ea typeface="Arial"/>
                          <a:cs typeface="Arial"/>
                        </a:rPr>
                        <a:t>Result</a:t>
                      </a:r>
                    </a:p>
                  </a:txBody>
                  <a:tcPr marL="152400" marR="152400" marT="95250" marB="95250" anchor="ctr">
                    <a:solidFill>
                      <a:srgbClr val="183E50"/>
                    </a:solidFill>
                  </a:tcPr>
                </a:tc>
              </a:tr>
              <a:tr h="508000">
                <a:tc>
                  <a:txBody>
                    <a:bodyPr/>
                    <a:lstStyle/>
                    <a:p>
                      <a:r>
                        <a:rPr sz="1650" b="0">
                          <a:solidFill>
                            <a:srgbClr val="F2F7FA"/>
                          </a:solidFill>
                          <a:latin typeface="Arial"/>
                          <a:ea typeface="Arial"/>
                          <a:cs typeface="Arial"/>
                        </a:rPr>
                        <a:t>Two roles</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4</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53.035 s</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Valid</a:t>
                      </a:r>
                    </a:p>
                  </a:txBody>
                  <a:tcPr marL="152400" marR="152400" marT="95250" marB="95250" anchor="ctr">
                    <a:solidFill>
                      <a:srgbClr val="102C3D"/>
                    </a:solidFill>
                  </a:tcPr>
                </a:tc>
              </a:tr>
              <a:tr h="508000">
                <a:tc>
                  <a:txBody>
                    <a:bodyPr/>
                    <a:lstStyle/>
                    <a:p>
                      <a:r>
                        <a:rPr sz="1650" b="0">
                          <a:solidFill>
                            <a:srgbClr val="F2F7FA"/>
                          </a:solidFill>
                          <a:latin typeface="Arial"/>
                          <a:ea typeface="Arial"/>
                          <a:cs typeface="Arial"/>
                        </a:rPr>
                        <a:t>Three roles</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6</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70.223 s</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Withheld</a:t>
                      </a:r>
                    </a:p>
                  </a:txBody>
                  <a:tcPr marL="152400" marR="152400" marT="95250" marB="95250" anchor="ctr">
                    <a:solidFill>
                      <a:srgbClr val="102C3D"/>
                    </a:solidFill>
                  </a:tcPr>
                </a:tc>
              </a:tr>
            </a:tbl>
          </a:graphicData>
        </a:graphic>
      </p:graphicFrame>
      <p:sp>
        <p:nvSpPr>
          <p:cNvPr id="10" name="">
            <a:extLst xmlns:a="http://schemas.openxmlformats.org/drawingml/2006/main">
              <a:ext uri="{FF2B5EF4-FFF2-40B4-BE49-F238E27FC236}">
                <a16:creationId xmlns:a16="http://schemas.microsoft.com/office/drawing/2014/main" id="{196048D2-7791-44DF-A1CA-654831E0DF78}"/>
              </a:ext>
            </a:extLst>
          </p:cNvPr>
          <p:cNvSpPr>
            <a:spLocks xmlns:a="http://schemas.openxmlformats.org/drawingml/2006/main" noGrp="1"/>
          </p:cNvSpPr>
          <p:nvPr/>
        </p:nvSpPr>
        <p:spPr>
          <a:xfrm xmlns:a="http://schemas.openxmlformats.org/drawingml/2006/main">
            <a:off x="609600" y="4743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82D4E5"/>
                </a:solidFill>
                <a:latin typeface="Arial"/>
                <a:ea typeface="Arial"/>
                <a:cs typeface="Arial"/>
              </a:defRPr>
            </a:pPr>
            <a:r>
              <a:rPr sz="2325" b="1">
                <a:solidFill>
                  <a:srgbClr val="82D4E5"/>
                </a:solidFill>
                <a:latin typeface="Arial"/>
                <a:ea typeface="Arial"/>
                <a:cs typeface="Arial"/>
              </a:rPr>
              <a:t>Calculated kW and kWh stayed identical</a:t>
            </a:r>
          </a:p>
        </p:txBody>
      </p:sp>
      <p:sp>
        <p:nvSpPr>
          <p:cNvPr id="11" name="">
            <a:extLst xmlns:a="http://schemas.openxmlformats.org/drawingml/2006/main">
              <a:ext uri="{FF2B5EF4-FFF2-40B4-BE49-F238E27FC236}">
                <a16:creationId xmlns:a16="http://schemas.microsoft.com/office/drawing/2014/main" id="{E49B9921-386D-4265-B9AE-40914392DEA8}"/>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2" name="">
            <a:extLst xmlns:a="http://schemas.openxmlformats.org/drawingml/2006/main">
              <a:ext uri="{FF2B5EF4-FFF2-40B4-BE49-F238E27FC236}">
                <a16:creationId xmlns:a16="http://schemas.microsoft.com/office/drawing/2014/main" id="{3666EA0F-1392-426F-9E30-4F562600F5A8}"/>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An environment flag enables an additional interpretation role.</a:t>
            </a:r>
          </a:p>
        </p:txBody>
      </p:sp>
      <p:sp>
        <p:nvSpPr>
          <p:cNvPr id="13" name="">
            <a:extLst xmlns:a="http://schemas.openxmlformats.org/drawingml/2006/main">
              <a:ext uri="{FF2B5EF4-FFF2-40B4-BE49-F238E27FC236}">
                <a16:creationId xmlns:a16="http://schemas.microsoft.com/office/drawing/2014/main" id="{CA5EC956-FBAC-46BB-9E4A-1AE7F5DF7712}"/>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4" name="">
            <a:extLst xmlns:a="http://schemas.openxmlformats.org/drawingml/2006/main">
              <a:ext uri="{FF2B5EF4-FFF2-40B4-BE49-F238E27FC236}">
                <a16:creationId xmlns:a16="http://schemas.microsoft.com/office/drawing/2014/main" id="{E349CEA9-5F3D-47AB-AAF7-0A5BE00399E8}"/>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Its contribution can be compared before accepting added complexity.</a:t>
            </a:r>
          </a:p>
        </p:txBody>
      </p:sp>
      <p:sp>
        <p:nvSpPr>
          <p:cNvPr id="15" name="">
            <a:extLst xmlns:a="http://schemas.openxmlformats.org/drawingml/2006/main">
              <a:ext uri="{FF2B5EF4-FFF2-40B4-BE49-F238E27FC236}">
                <a16:creationId xmlns:a16="http://schemas.microsoft.com/office/drawing/2014/main" id="{F3C8C104-1FEB-4AB0-82D0-F39B69E24DA7}"/>
              </a:ext>
            </a:extLst>
          </p:cNvPr>
          <p:cNvSpPr>
            <a:spLocks xmlns:a="http://schemas.openxmlformats.org/drawingml/2006/main" noGrp="1"/>
          </p:cNvSpPr>
          <p:nvPr/>
        </p:nvSpPr>
        <p:spPr>
          <a:xfrm xmlns:a="http://schemas.openxmlformats.org/drawingml/2006/main">
            <a:off x="609600" y="6410325"/>
            <a:ext cx="1019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4C9D5"/>
                </a:solidFill>
                <a:latin typeface="Arial"/>
                <a:ea typeface="Arial"/>
                <a:cs typeface="Arial"/>
              </a:defRPr>
            </a:pPr>
            <a:r>
              <a:rPr sz="1200" b="0">
                <a:solidFill>
                  <a:srgbClr val="B4C9D5"/>
                </a:solidFill>
                <a:latin typeface="Arial"/>
                <a:ea typeface="Arial"/>
                <a:cs typeface="Arial"/>
              </a:rPr>
              <a:t>One sequential pair. No demonstrated quality improvement. Third role defaults off.</a:t>
            </a:r>
          </a:p>
        </p:txBody>
      </p:sp>
    </p:spTree>
    <p:extLst>
      <p:ext uri="{BB962C8B-B14F-4D97-AF65-F5344CB8AC3E}">
        <p14:creationId xmlns:p14="http://schemas.microsoft.com/office/powerpoint/2010/main" val="1271774927"/>
      </p:ext>
    </p:extLst>
  </p:cSld>
</p:sld>
</file>

<file path=ppt/slides/slide7.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842D28B-F4FD-4632-9A01-31217A7476D0}"/>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Checkpoint 6   Safety and human oversight</a:t>
            </a:r>
          </a:p>
        </p:txBody>
      </p:sp>
      <p:sp>
        <p:nvSpPr>
          <p:cNvPr id="2" name="">
            <a:extLst xmlns:a="http://schemas.openxmlformats.org/drawingml/2006/main">
              <a:ext uri="{FF2B5EF4-FFF2-40B4-BE49-F238E27FC236}">
                <a16:creationId xmlns:a16="http://schemas.microsoft.com/office/drawing/2014/main" id="{044F3A82-A59C-4A4B-B95D-6240047845E0}"/>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Validation controls publication</a:t>
            </a:r>
          </a:p>
        </p:txBody>
      </p:sp>
      <p:sp>
        <p:nvSpPr>
          <p:cNvPr id="3" name="">
            <a:extLst xmlns:a="http://schemas.openxmlformats.org/drawingml/2006/main">
              <a:ext uri="{FF2B5EF4-FFF2-40B4-BE49-F238E27FC236}">
                <a16:creationId xmlns:a16="http://schemas.microsoft.com/office/drawing/2014/main" id="{44F2AD6B-DDA2-4B0D-885D-670354237C8A}"/>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7 / 10</a:t>
            </a:r>
          </a:p>
        </p:txBody>
      </p:sp>
      <p:sp>
        <p:nvSpPr>
          <p:cNvPr id="4" name="">
            <a:extLst xmlns:a="http://schemas.openxmlformats.org/drawingml/2006/main">
              <a:ext uri="{FF2B5EF4-FFF2-40B4-BE49-F238E27FC236}">
                <a16:creationId xmlns:a16="http://schemas.microsoft.com/office/drawing/2014/main" id="{466949A6-E5F5-4E9B-8034-81F23B7F374B}"/>
              </a:ext>
            </a:extLst>
          </p:cNvPr>
          <p:cNvSpPr>
            <a:spLocks xmlns:a="http://schemas.openxmlformats.org/drawingml/2006/main" noGrp="1"/>
          </p:cNvSpPr>
          <p:nvPr/>
        </p:nvSpPr>
        <p:spPr>
          <a:xfrm xmlns:a="http://schemas.openxmlformats.org/drawingml/2006/main">
            <a:off x="609600" y="1943100"/>
            <a:ext cx="2238375" cy="733425"/>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Fresh inputs</a:t>
            </a:r>
          </a:p>
        </p:txBody>
      </p:sp>
      <p:sp>
        <p:nvSpPr>
          <p:cNvPr id="5" name="">
            <a:extLst xmlns:a="http://schemas.openxmlformats.org/drawingml/2006/main">
              <a:ext uri="{FF2B5EF4-FFF2-40B4-BE49-F238E27FC236}">
                <a16:creationId xmlns:a16="http://schemas.microsoft.com/office/drawing/2014/main" id="{C32D5F18-75C1-4EB9-904C-77A953F00E58}"/>
              </a:ext>
            </a:extLst>
          </p:cNvPr>
          <p:cNvSpPr>
            <a:spLocks xmlns:a="http://schemas.openxmlformats.org/drawingml/2006/main" noGrp="1"/>
          </p:cNvSpPr>
          <p:nvPr/>
        </p:nvSpPr>
        <p:spPr>
          <a:xfrm xmlns:a="http://schemas.openxmlformats.org/drawingml/2006/main">
            <a:off x="3505200" y="1943100"/>
            <a:ext cx="2238375" cy="733425"/>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Valid arithmetic</a:t>
            </a:r>
          </a:p>
        </p:txBody>
      </p:sp>
      <p:sp>
        <p:nvSpPr>
          <p:cNvPr id="6" name="">
            <a:extLst xmlns:a="http://schemas.openxmlformats.org/drawingml/2006/main">
              <a:ext uri="{FF2B5EF4-FFF2-40B4-BE49-F238E27FC236}">
                <a16:creationId xmlns:a16="http://schemas.microsoft.com/office/drawing/2014/main" id="{7F58B064-54AB-4CA9-8E69-7F5CD6A8DF0F}"/>
              </a:ext>
            </a:extLst>
          </p:cNvPr>
          <p:cNvSpPr>
            <a:spLocks xmlns:a="http://schemas.openxmlformats.org/drawingml/2006/main" noGrp="1"/>
          </p:cNvSpPr>
          <p:nvPr/>
        </p:nvSpPr>
        <p:spPr>
          <a:xfrm xmlns:a="http://schemas.openxmlformats.org/drawingml/2006/main">
            <a:off x="6400800" y="1943100"/>
            <a:ext cx="2238375" cy="733425"/>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Voltage above floor</a:t>
            </a:r>
          </a:p>
        </p:txBody>
      </p:sp>
      <p:sp>
        <p:nvSpPr>
          <p:cNvPr id="7" name="">
            <a:extLst xmlns:a="http://schemas.openxmlformats.org/drawingml/2006/main">
              <a:ext uri="{FF2B5EF4-FFF2-40B4-BE49-F238E27FC236}">
                <a16:creationId xmlns:a16="http://schemas.microsoft.com/office/drawing/2014/main" id="{2F15AD3D-0AD4-48DF-9D8E-5EDF28A68E03}"/>
              </a:ext>
            </a:extLst>
          </p:cNvPr>
          <p:cNvSpPr>
            <a:spLocks xmlns:a="http://schemas.openxmlformats.org/drawingml/2006/main" noGrp="1"/>
          </p:cNvSpPr>
          <p:nvPr/>
        </p:nvSpPr>
        <p:spPr>
          <a:xfrm xmlns:a="http://schemas.openxmlformats.org/drawingml/2006/main">
            <a:off x="9296400" y="1943100"/>
            <a:ext cx="2238375" cy="733425"/>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00">
                <a:solidFill>
                  <a:srgbClr val="F2F7FA"/>
                </a:solidFill>
                <a:latin typeface="Arial"/>
                <a:ea typeface="Arial"/>
                <a:cs typeface="Arial"/>
              </a:defRPr>
            </a:pPr>
            <a:r>
              <a:rPr sz="1800">
                <a:solidFill>
                  <a:srgbClr val="F2F7FA"/>
                </a:solidFill>
                <a:latin typeface="Arial"/>
                <a:ea typeface="Arial"/>
                <a:cs typeface="Arial"/>
              </a:rPr>
              <a:t>Supported guidance</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847975" y="2309813"/>
            <a:ext cx="657225" cy="0"/>
          </a:xfrm>
          <a:prstGeom xmlns:a="http://schemas.openxmlformats.org/drawingml/2006/main" prst="straightConnector1">
            <a:avLst/>
          </a:prstGeom>
          <a:ln xmlns:a="http://schemas.openxmlformats.org/drawingml/2006/main" w="19050">
            <a:solidFill>
              <a:srgbClr val="EE8883"/>
            </a:solidFill>
            <a:prstDash val="solid"/>
            <a:tail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5743575" y="2309813"/>
            <a:ext cx="657225" cy="0"/>
          </a:xfrm>
          <a:prstGeom xmlns:a="http://schemas.openxmlformats.org/drawingml/2006/main" prst="straightConnector1">
            <a:avLst/>
          </a:prstGeom>
          <a:ln xmlns:a="http://schemas.openxmlformats.org/drawingml/2006/main" w="19050">
            <a:solidFill>
              <a:srgbClr val="EE8883"/>
            </a:solidFill>
            <a:prstDash val="solid"/>
            <a:tailEnd type="triangle" w="med" len="med"/>
          </a:ln>
        </p:spPr>
      </p:cxn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8639175" y="2309813"/>
            <a:ext cx="657225" cy="0"/>
          </a:xfrm>
          <a:prstGeom xmlns:a="http://schemas.openxmlformats.org/drawingml/2006/main" prst="straightConnector1">
            <a:avLst/>
          </a:prstGeom>
          <a:ln xmlns:a="http://schemas.openxmlformats.org/drawingml/2006/main" w="19050">
            <a:solidFill>
              <a:srgbClr val="EE8883"/>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AF27C7DE-AFBB-4AAB-A954-E13F18F52F59}"/>
              </a:ext>
            </a:extLst>
          </p:cNvPr>
          <p:cNvSpPr>
            <a:spLocks xmlns:a="http://schemas.openxmlformats.org/drawingml/2006/main" noGrp="1"/>
          </p:cNvSpPr>
          <p:nvPr/>
        </p:nvSpPr>
        <p:spPr>
          <a:xfrm xmlns:a="http://schemas.openxmlformats.org/drawingml/2006/main">
            <a:off x="609600" y="320040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75" b="1">
                <a:solidFill>
                  <a:srgbClr val="F2F7FA"/>
                </a:solidFill>
                <a:latin typeface="Arial"/>
                <a:ea typeface="Arial"/>
                <a:cs typeface="Arial"/>
              </a:defRPr>
            </a:pPr>
            <a:r>
              <a:rPr sz="5775" b="1">
                <a:solidFill>
                  <a:srgbClr val="F2F7FA"/>
                </a:solidFill>
                <a:latin typeface="Arial"/>
                <a:ea typeface="Arial"/>
                <a:cs typeface="Arial"/>
              </a:rPr>
              <a:t>305.2 V</a:t>
            </a:r>
          </a:p>
        </p:txBody>
      </p:sp>
      <p:sp>
        <p:nvSpPr>
          <p:cNvPr id="12" name="">
            <a:extLst xmlns:a="http://schemas.openxmlformats.org/drawingml/2006/main">
              <a:ext uri="{FF2B5EF4-FFF2-40B4-BE49-F238E27FC236}">
                <a16:creationId xmlns:a16="http://schemas.microsoft.com/office/drawing/2014/main" id="{1F7B4780-FF84-4E1E-87F0-C368C65672BD}"/>
              </a:ext>
            </a:extLst>
          </p:cNvPr>
          <p:cNvSpPr>
            <a:spLocks xmlns:a="http://schemas.openxmlformats.org/drawingml/2006/main" noGrp="1"/>
          </p:cNvSpPr>
          <p:nvPr/>
        </p:nvSpPr>
        <p:spPr>
          <a:xfrm xmlns:a="http://schemas.openxmlformats.org/drawingml/2006/main">
            <a:off x="609600" y="42481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4C9D5"/>
                </a:solidFill>
                <a:latin typeface="Arial"/>
                <a:ea typeface="Arial"/>
                <a:cs typeface="Arial"/>
              </a:defRPr>
            </a:pPr>
            <a:r>
              <a:rPr sz="1875" b="0">
                <a:solidFill>
                  <a:srgbClr val="B4C9D5"/>
                </a:solidFill>
                <a:latin typeface="Arial"/>
                <a:ea typeface="Arial"/>
                <a:cs typeface="Arial"/>
              </a:rPr>
              <a:t>Fixed observed voltage floor</a:t>
            </a:r>
          </a:p>
        </p:txBody>
      </p:sp>
      <p:sp>
        <p:nvSpPr>
          <p:cNvPr id="13" name="">
            <a:extLst xmlns:a="http://schemas.openxmlformats.org/drawingml/2006/main">
              <a:ext uri="{FF2B5EF4-FFF2-40B4-BE49-F238E27FC236}">
                <a16:creationId xmlns:a16="http://schemas.microsoft.com/office/drawing/2014/main" id="{0A4887DB-0651-4B51-AB80-0018AD550AD4}"/>
              </a:ext>
            </a:extLst>
          </p:cNvPr>
          <p:cNvSpPr>
            <a:spLocks xmlns:a="http://schemas.openxmlformats.org/drawingml/2006/main" noGrp="1"/>
          </p:cNvSpPr>
          <p:nvPr/>
        </p:nvSpPr>
        <p:spPr>
          <a:xfrm xmlns:a="http://schemas.openxmlformats.org/drawingml/2006/main">
            <a:off x="6286500" y="3314700"/>
            <a:ext cx="5286375" cy="628650"/>
          </a:xfrm>
          <a:prstGeom xmlns:a="http://schemas.openxmlformats.org/drawingml/2006/main" prst="rect">
            <a:avLst/>
          </a:prstGeom>
          <a:solidFill xmlns:a="http://schemas.openxmlformats.org/drawingml/2006/main">
            <a:srgbClr val="102C3D"/>
          </a:solidFill>
          <a:ln xmlns:a="http://schemas.openxmlformats.org/drawingml/2006/main" w="15240">
            <a:solidFill>
              <a:srgbClr val="91D6BD"/>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75">
                <a:solidFill>
                  <a:srgbClr val="F2F7FA"/>
                </a:solidFill>
                <a:latin typeface="Arial"/>
                <a:ea typeface="Arial"/>
                <a:cs typeface="Arial"/>
              </a:defRPr>
            </a:pPr>
            <a:r>
              <a:rPr sz="1875">
                <a:solidFill>
                  <a:srgbClr val="F2F7FA"/>
                </a:solidFill>
                <a:latin typeface="Arial"/>
                <a:ea typeface="Arial"/>
                <a:cs typeface="Arial"/>
              </a:rPr>
              <a:t>Pass: publish read-only profile</a:t>
            </a:r>
          </a:p>
        </p:txBody>
      </p:sp>
      <p:sp>
        <p:nvSpPr>
          <p:cNvPr id="14" name="">
            <a:extLst xmlns:a="http://schemas.openxmlformats.org/drawingml/2006/main">
              <a:ext uri="{FF2B5EF4-FFF2-40B4-BE49-F238E27FC236}">
                <a16:creationId xmlns:a16="http://schemas.microsoft.com/office/drawing/2014/main" id="{64D5D672-96E7-4355-95BD-3B98217948BD}"/>
              </a:ext>
            </a:extLst>
          </p:cNvPr>
          <p:cNvSpPr>
            <a:spLocks xmlns:a="http://schemas.openxmlformats.org/drawingml/2006/main" noGrp="1"/>
          </p:cNvSpPr>
          <p:nvPr/>
        </p:nvSpPr>
        <p:spPr>
          <a:xfrm xmlns:a="http://schemas.openxmlformats.org/drawingml/2006/main">
            <a:off x="6286500" y="4219575"/>
            <a:ext cx="5286375" cy="628650"/>
          </a:xfrm>
          <a:prstGeom xmlns:a="http://schemas.openxmlformats.org/drawingml/2006/main" prst="rect">
            <a:avLst/>
          </a:prstGeom>
          <a:solidFill xmlns:a="http://schemas.openxmlformats.org/drawingml/2006/main">
            <a:srgbClr val="102C3D"/>
          </a:solidFill>
          <a:ln xmlns:a="http://schemas.openxmlformats.org/drawingml/2006/main" w="15240">
            <a:solidFill>
              <a:srgbClr val="EE8883"/>
            </a:solidFill>
          </a:ln>
        </p:spPr>
        <p:txBody>
          <a:bodyPr xmlns:a="http://schemas.openxmlformats.org/drawingml/2006/main" wrap="square" lIns="114300" tIns="114300" rIns="114300" bIns="114300" anchor="ctr">
            <a:noAutofit/>
          </a:bodyPr>
          <a:lstStyle xmlns:a="http://schemas.openxmlformats.org/drawingml/2006/main"/>
          <a:p xmlns:a="http://schemas.openxmlformats.org/drawingml/2006/main">
            <a:pPr algn="ctr">
              <a:defRPr sz="1875">
                <a:solidFill>
                  <a:srgbClr val="F2F7FA"/>
                </a:solidFill>
                <a:latin typeface="Arial"/>
                <a:ea typeface="Arial"/>
                <a:cs typeface="Arial"/>
              </a:defRPr>
            </a:pPr>
            <a:r>
              <a:rPr sz="1875">
                <a:solidFill>
                  <a:srgbClr val="F2F7FA"/>
                </a:solidFill>
                <a:latin typeface="Arial"/>
                <a:ea typeface="Arial"/>
                <a:cs typeface="Arial"/>
              </a:rPr>
              <a:t>Fail: withhold with a reason</a:t>
            </a:r>
          </a:p>
        </p:txBody>
      </p:sp>
      <p:sp>
        <p:nvSpPr>
          <p:cNvPr id="15" name="">
            <a:extLst xmlns:a="http://schemas.openxmlformats.org/drawingml/2006/main">
              <a:ext uri="{FF2B5EF4-FFF2-40B4-BE49-F238E27FC236}">
                <a16:creationId xmlns:a16="http://schemas.microsoft.com/office/drawing/2014/main" id="{FCFE58DD-2893-4136-A7C8-7AA1C6A262A6}"/>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6" name="">
            <a:extLst xmlns:a="http://schemas.openxmlformats.org/drawingml/2006/main">
              <a:ext uri="{FF2B5EF4-FFF2-40B4-BE49-F238E27FC236}">
                <a16:creationId xmlns:a16="http://schemas.microsoft.com/office/drawing/2014/main" id="{F462F8C8-EFD2-42CA-B4D0-B08C8CCFCCAB}"/>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Stops publication when required evidence or checks fail.</a:t>
            </a:r>
          </a:p>
        </p:txBody>
      </p:sp>
      <p:sp>
        <p:nvSpPr>
          <p:cNvPr id="17" name="">
            <a:extLst xmlns:a="http://schemas.openxmlformats.org/drawingml/2006/main">
              <a:ext uri="{FF2B5EF4-FFF2-40B4-BE49-F238E27FC236}">
                <a16:creationId xmlns:a16="http://schemas.microsoft.com/office/drawing/2014/main" id="{36D1F5F6-7D5D-43F1-AAD8-2ADCC4A9A1C9}"/>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8" name="">
            <a:extLst xmlns:a="http://schemas.openxmlformats.org/drawingml/2006/main">
              <a:ext uri="{FF2B5EF4-FFF2-40B4-BE49-F238E27FC236}">
                <a16:creationId xmlns:a16="http://schemas.microsoft.com/office/drawing/2014/main" id="{9A86AA8E-970F-4084-BB40-F0814D14C97E}"/>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A convincing explanation must not bypass an operating constraint.</a:t>
            </a:r>
          </a:p>
        </p:txBody>
      </p:sp>
      <p:sp>
        <p:nvSpPr>
          <p:cNvPr id="19" name="">
            <a:extLst xmlns:a="http://schemas.openxmlformats.org/drawingml/2006/main">
              <a:ext uri="{FF2B5EF4-FFF2-40B4-BE49-F238E27FC236}">
                <a16:creationId xmlns:a16="http://schemas.microsoft.com/office/drawing/2014/main" id="{C5C7AF6C-9F54-424B-9F4A-FAD46E539FA6}"/>
              </a:ext>
            </a:extLst>
          </p:cNvPr>
          <p:cNvSpPr>
            <a:spLocks xmlns:a="http://schemas.openxmlformats.org/drawingml/2006/main" noGrp="1"/>
          </p:cNvSpPr>
          <p:nvPr/>
        </p:nvSpPr>
        <p:spPr>
          <a:xfrm xmlns:a="http://schemas.openxmlformats.org/drawingml/2006/main">
            <a:off x="609600" y="6410325"/>
            <a:ext cx="1019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4C9D5"/>
                </a:solidFill>
                <a:latin typeface="Arial"/>
                <a:ea typeface="Arial"/>
                <a:cs typeface="Arial"/>
              </a:defRPr>
            </a:pPr>
            <a:r>
              <a:rPr sz="1200" b="0">
                <a:solidFill>
                  <a:srgbClr val="B4C9D5"/>
                </a:solidFill>
                <a:latin typeface="Arial"/>
                <a:ea typeface="Arial"/>
                <a:cs typeface="Arial"/>
              </a:rPr>
              <a:t>No equipment commands. No prediction or guarantee of future battery voltage.</a:t>
            </a:r>
          </a:p>
        </p:txBody>
      </p:sp>
    </p:spTree>
    <p:extLst>
      <p:ext uri="{BB962C8B-B14F-4D97-AF65-F5344CB8AC3E}">
        <p14:creationId xmlns:p14="http://schemas.microsoft.com/office/powerpoint/2010/main" val="1921918435"/>
      </p:ext>
    </p:extLst>
  </p:cSld>
</p:sld>
</file>

<file path=ppt/slides/slide8.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FA4BCDB-F404-484D-8405-8E8D17E31F14}"/>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Integrated MVP   Monitoring and debugging</a:t>
            </a:r>
          </a:p>
        </p:txBody>
      </p:sp>
      <p:sp>
        <p:nvSpPr>
          <p:cNvPr id="2" name="">
            <a:extLst xmlns:a="http://schemas.openxmlformats.org/drawingml/2006/main">
              <a:ext uri="{FF2B5EF4-FFF2-40B4-BE49-F238E27FC236}">
                <a16:creationId xmlns:a16="http://schemas.microsoft.com/office/drawing/2014/main" id="{538112D3-EA08-41F5-97C3-82AC65D8A32F}"/>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Six views explain each decision</a:t>
            </a:r>
          </a:p>
        </p:txBody>
      </p:sp>
      <p:sp>
        <p:nvSpPr>
          <p:cNvPr id="3" name="">
            <a:extLst xmlns:a="http://schemas.openxmlformats.org/drawingml/2006/main">
              <a:ext uri="{FF2B5EF4-FFF2-40B4-BE49-F238E27FC236}">
                <a16:creationId xmlns:a16="http://schemas.microsoft.com/office/drawing/2014/main" id="{8AF2260A-FF60-4BC9-8676-2DF5E8E8D57C}"/>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8 / 10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88616cdfaa04a2b"/>
          <a:stretch xmlns:a="http://schemas.openxmlformats.org/drawingml/2006/main"/>
        </p:blipFill>
        <p:spPr>
          <a:xfrm xmlns:a="http://schemas.openxmlformats.org/drawingml/2006/main">
            <a:off x="2494565" y="1685925"/>
            <a:ext cx="3964371" cy="3381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B1FDCE5-46C4-4270-A105-80DD8903C33C}"/>
              </a:ext>
            </a:extLst>
          </p:cNvPr>
          <p:cNvSpPr>
            <a:spLocks xmlns:a="http://schemas.openxmlformats.org/drawingml/2006/main" noGrp="1"/>
          </p:cNvSpPr>
          <p:nvPr/>
        </p:nvSpPr>
        <p:spPr>
          <a:xfrm xmlns:a="http://schemas.openxmlformats.org/drawingml/2006/main">
            <a:off x="8677275" y="1676400"/>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82D4E5"/>
                </a:solidFill>
                <a:latin typeface="Arial"/>
                <a:ea typeface="Arial"/>
                <a:cs typeface="Arial"/>
              </a:defRPr>
            </a:pPr>
            <a:r>
              <a:rPr sz="1800" b="1">
                <a:solidFill>
                  <a:srgbClr val="82D4E5"/>
                </a:solidFill>
                <a:latin typeface="Arial"/>
                <a:ea typeface="Arial"/>
                <a:cs typeface="Arial"/>
              </a:rPr>
              <a:t>Context</a:t>
            </a:r>
          </a:p>
        </p:txBody>
      </p:sp>
      <p:sp>
        <p:nvSpPr>
          <p:cNvPr id="6" name="">
            <a:extLst xmlns:a="http://schemas.openxmlformats.org/drawingml/2006/main">
              <a:ext uri="{FF2B5EF4-FFF2-40B4-BE49-F238E27FC236}">
                <a16:creationId xmlns:a16="http://schemas.microsoft.com/office/drawing/2014/main" id="{44BC2A20-040C-402B-B19A-E4E9699D919D}"/>
              </a:ext>
            </a:extLst>
          </p:cNvPr>
          <p:cNvSpPr>
            <a:spLocks xmlns:a="http://schemas.openxmlformats.org/drawingml/2006/main" noGrp="1"/>
          </p:cNvSpPr>
          <p:nvPr/>
        </p:nvSpPr>
        <p:spPr>
          <a:xfrm xmlns:a="http://schemas.openxmlformats.org/drawingml/2006/main">
            <a:off x="8677275" y="1952625"/>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4C9D5"/>
                </a:solidFill>
                <a:latin typeface="Arial"/>
                <a:ea typeface="Arial"/>
                <a:cs typeface="Arial"/>
              </a:defRPr>
            </a:pPr>
            <a:r>
              <a:rPr sz="1425" b="0">
                <a:solidFill>
                  <a:srgbClr val="B4C9D5"/>
                </a:solidFill>
                <a:latin typeface="Arial"/>
                <a:ea typeface="Arial"/>
                <a:cs typeface="Arial"/>
              </a:rPr>
              <a:t>Inputs and calculated facts</a:t>
            </a:r>
          </a:p>
        </p:txBody>
      </p:sp>
      <p:sp>
        <p:nvSpPr>
          <p:cNvPr id="7" name="">
            <a:extLst xmlns:a="http://schemas.openxmlformats.org/drawingml/2006/main">
              <a:ext uri="{FF2B5EF4-FFF2-40B4-BE49-F238E27FC236}">
                <a16:creationId xmlns:a16="http://schemas.microsoft.com/office/drawing/2014/main" id="{74526B40-A9F2-4C55-83C0-34E776022A88}"/>
              </a:ext>
            </a:extLst>
          </p:cNvPr>
          <p:cNvSpPr>
            <a:spLocks xmlns:a="http://schemas.openxmlformats.org/drawingml/2006/main" noGrp="1"/>
          </p:cNvSpPr>
          <p:nvPr/>
        </p:nvSpPr>
        <p:spPr>
          <a:xfrm xmlns:a="http://schemas.openxmlformats.org/drawingml/2006/main">
            <a:off x="8677275" y="2257425"/>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82D4E5"/>
                </a:solidFill>
                <a:latin typeface="Arial"/>
                <a:ea typeface="Arial"/>
                <a:cs typeface="Arial"/>
              </a:defRPr>
            </a:pPr>
            <a:r>
              <a:rPr sz="1800" b="1">
                <a:solidFill>
                  <a:srgbClr val="82D4E5"/>
                </a:solidFill>
                <a:latin typeface="Arial"/>
                <a:ea typeface="Arial"/>
                <a:cs typeface="Arial"/>
              </a:rPr>
              <a:t>Memory</a:t>
            </a:r>
          </a:p>
        </p:txBody>
      </p:sp>
      <p:sp>
        <p:nvSpPr>
          <p:cNvPr id="8" name="">
            <a:extLst xmlns:a="http://schemas.openxmlformats.org/drawingml/2006/main">
              <a:ext uri="{FF2B5EF4-FFF2-40B4-BE49-F238E27FC236}">
                <a16:creationId xmlns:a16="http://schemas.microsoft.com/office/drawing/2014/main" id="{D6FF31C6-114F-41D7-9BE5-21F2D29F8818}"/>
              </a:ext>
            </a:extLst>
          </p:cNvPr>
          <p:cNvSpPr>
            <a:spLocks xmlns:a="http://schemas.openxmlformats.org/drawingml/2006/main" noGrp="1"/>
          </p:cNvSpPr>
          <p:nvPr/>
        </p:nvSpPr>
        <p:spPr>
          <a:xfrm xmlns:a="http://schemas.openxmlformats.org/drawingml/2006/main">
            <a:off x="8677275" y="2533650"/>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4C9D5"/>
                </a:solidFill>
                <a:latin typeface="Arial"/>
                <a:ea typeface="Arial"/>
                <a:cs typeface="Arial"/>
              </a:defRPr>
            </a:pPr>
            <a:r>
              <a:rPr sz="1425" b="0">
                <a:solidFill>
                  <a:srgbClr val="B4C9D5"/>
                </a:solidFill>
                <a:latin typeface="Arial"/>
                <a:ea typeface="Arial"/>
                <a:cs typeface="Arial"/>
              </a:rPr>
              <a:t>Retrieved records and feedback</a:t>
            </a:r>
          </a:p>
        </p:txBody>
      </p:sp>
      <p:sp>
        <p:nvSpPr>
          <p:cNvPr id="9" name="">
            <a:extLst xmlns:a="http://schemas.openxmlformats.org/drawingml/2006/main">
              <a:ext uri="{FF2B5EF4-FFF2-40B4-BE49-F238E27FC236}">
                <a16:creationId xmlns:a16="http://schemas.microsoft.com/office/drawing/2014/main" id="{C3074791-7640-4125-B983-248604F4781A}"/>
              </a:ext>
            </a:extLst>
          </p:cNvPr>
          <p:cNvSpPr>
            <a:spLocks xmlns:a="http://schemas.openxmlformats.org/drawingml/2006/main" noGrp="1"/>
          </p:cNvSpPr>
          <p:nvPr/>
        </p:nvSpPr>
        <p:spPr>
          <a:xfrm xmlns:a="http://schemas.openxmlformats.org/drawingml/2006/main">
            <a:off x="8677275" y="2838450"/>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82D4E5"/>
                </a:solidFill>
                <a:latin typeface="Arial"/>
                <a:ea typeface="Arial"/>
                <a:cs typeface="Arial"/>
              </a:defRPr>
            </a:pPr>
            <a:r>
              <a:rPr sz="1800" b="1">
                <a:solidFill>
                  <a:srgbClr val="82D4E5"/>
                </a:solidFill>
                <a:latin typeface="Arial"/>
                <a:ea typeface="Arial"/>
                <a:cs typeface="Arial"/>
              </a:rPr>
              <a:t>Tools</a:t>
            </a:r>
          </a:p>
        </p:txBody>
      </p:sp>
      <p:sp>
        <p:nvSpPr>
          <p:cNvPr id="10" name="">
            <a:extLst xmlns:a="http://schemas.openxmlformats.org/drawingml/2006/main">
              <a:ext uri="{FF2B5EF4-FFF2-40B4-BE49-F238E27FC236}">
                <a16:creationId xmlns:a16="http://schemas.microsoft.com/office/drawing/2014/main" id="{C9F0D0D5-D836-4DAD-88E3-24547CDE7E30}"/>
              </a:ext>
            </a:extLst>
          </p:cNvPr>
          <p:cNvSpPr>
            <a:spLocks xmlns:a="http://schemas.openxmlformats.org/drawingml/2006/main" noGrp="1"/>
          </p:cNvSpPr>
          <p:nvPr/>
        </p:nvSpPr>
        <p:spPr>
          <a:xfrm xmlns:a="http://schemas.openxmlformats.org/drawingml/2006/main">
            <a:off x="8677275" y="3114675"/>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4C9D5"/>
                </a:solidFill>
                <a:latin typeface="Arial"/>
                <a:ea typeface="Arial"/>
                <a:cs typeface="Arial"/>
              </a:defRPr>
            </a:pPr>
            <a:r>
              <a:rPr sz="1425" b="0">
                <a:solidFill>
                  <a:srgbClr val="B4C9D5"/>
                </a:solidFill>
                <a:latin typeface="Arial"/>
                <a:ea typeface="Arial"/>
                <a:cs typeface="Arial"/>
              </a:rPr>
              <a:t>Schemas, calls, and results</a:t>
            </a:r>
          </a:p>
        </p:txBody>
      </p:sp>
      <p:sp>
        <p:nvSpPr>
          <p:cNvPr id="11" name="">
            <a:extLst xmlns:a="http://schemas.openxmlformats.org/drawingml/2006/main">
              <a:ext uri="{FF2B5EF4-FFF2-40B4-BE49-F238E27FC236}">
                <a16:creationId xmlns:a16="http://schemas.microsoft.com/office/drawing/2014/main" id="{3B26ACC4-011F-43C8-A0BD-D17D4EB64024}"/>
              </a:ext>
            </a:extLst>
          </p:cNvPr>
          <p:cNvSpPr>
            <a:spLocks xmlns:a="http://schemas.openxmlformats.org/drawingml/2006/main" noGrp="1"/>
          </p:cNvSpPr>
          <p:nvPr/>
        </p:nvSpPr>
        <p:spPr>
          <a:xfrm xmlns:a="http://schemas.openxmlformats.org/drawingml/2006/main">
            <a:off x="8677275" y="3419475"/>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82D4E5"/>
                </a:solidFill>
                <a:latin typeface="Arial"/>
                <a:ea typeface="Arial"/>
                <a:cs typeface="Arial"/>
              </a:defRPr>
            </a:pPr>
            <a:r>
              <a:rPr sz="1800" b="1">
                <a:solidFill>
                  <a:srgbClr val="82D4E5"/>
                </a:solidFill>
                <a:latin typeface="Arial"/>
                <a:ea typeface="Arial"/>
                <a:cs typeface="Arial"/>
              </a:rPr>
              <a:t>Subagent</a:t>
            </a:r>
          </a:p>
        </p:txBody>
      </p:sp>
      <p:sp>
        <p:nvSpPr>
          <p:cNvPr id="12" name="">
            <a:extLst xmlns:a="http://schemas.openxmlformats.org/drawingml/2006/main">
              <a:ext uri="{FF2B5EF4-FFF2-40B4-BE49-F238E27FC236}">
                <a16:creationId xmlns:a16="http://schemas.microsoft.com/office/drawing/2014/main" id="{3045DAA1-C68E-4A6F-B9FD-EEFBBD4874CD}"/>
              </a:ext>
            </a:extLst>
          </p:cNvPr>
          <p:cNvSpPr>
            <a:spLocks xmlns:a="http://schemas.openxmlformats.org/drawingml/2006/main" noGrp="1"/>
          </p:cNvSpPr>
          <p:nvPr/>
        </p:nvSpPr>
        <p:spPr>
          <a:xfrm xmlns:a="http://schemas.openxmlformats.org/drawingml/2006/main">
            <a:off x="8677275" y="3695700"/>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4C9D5"/>
                </a:solidFill>
                <a:latin typeface="Arial"/>
                <a:ea typeface="Arial"/>
                <a:cs typeface="Arial"/>
              </a:defRPr>
            </a:pPr>
            <a:r>
              <a:rPr sz="1425" b="0">
                <a:solidFill>
                  <a:srgbClr val="B4C9D5"/>
                </a:solidFill>
                <a:latin typeface="Arial"/>
                <a:ea typeface="Arial"/>
                <a:cs typeface="Arial"/>
              </a:rPr>
              <a:t>Role inputs and validated outputs</a:t>
            </a:r>
          </a:p>
        </p:txBody>
      </p:sp>
      <p:sp>
        <p:nvSpPr>
          <p:cNvPr id="13" name="">
            <a:extLst xmlns:a="http://schemas.openxmlformats.org/drawingml/2006/main">
              <a:ext uri="{FF2B5EF4-FFF2-40B4-BE49-F238E27FC236}">
                <a16:creationId xmlns:a16="http://schemas.microsoft.com/office/drawing/2014/main" id="{C1E6C48B-1DB9-409F-9E4F-87C56BBD12E8}"/>
              </a:ext>
            </a:extLst>
          </p:cNvPr>
          <p:cNvSpPr>
            <a:spLocks xmlns:a="http://schemas.openxmlformats.org/drawingml/2006/main" noGrp="1"/>
          </p:cNvSpPr>
          <p:nvPr/>
        </p:nvSpPr>
        <p:spPr>
          <a:xfrm xmlns:a="http://schemas.openxmlformats.org/drawingml/2006/main">
            <a:off x="8677275" y="4000500"/>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82D4E5"/>
                </a:solidFill>
                <a:latin typeface="Arial"/>
                <a:ea typeface="Arial"/>
                <a:cs typeface="Arial"/>
              </a:defRPr>
            </a:pPr>
            <a:r>
              <a:rPr sz="1800" b="1">
                <a:solidFill>
                  <a:srgbClr val="82D4E5"/>
                </a:solidFill>
                <a:latin typeface="Arial"/>
                <a:ea typeface="Arial"/>
                <a:cs typeface="Arial"/>
              </a:rPr>
              <a:t>Trace</a:t>
            </a:r>
          </a:p>
        </p:txBody>
      </p:sp>
      <p:sp>
        <p:nvSpPr>
          <p:cNvPr id="14" name="">
            <a:extLst xmlns:a="http://schemas.openxmlformats.org/drawingml/2006/main">
              <a:ext uri="{FF2B5EF4-FFF2-40B4-BE49-F238E27FC236}">
                <a16:creationId xmlns:a16="http://schemas.microsoft.com/office/drawing/2014/main" id="{C16046E2-0FA2-4B36-A091-16EF0EA7D291}"/>
              </a:ext>
            </a:extLst>
          </p:cNvPr>
          <p:cNvSpPr>
            <a:spLocks xmlns:a="http://schemas.openxmlformats.org/drawingml/2006/main" noGrp="1"/>
          </p:cNvSpPr>
          <p:nvPr/>
        </p:nvSpPr>
        <p:spPr>
          <a:xfrm xmlns:a="http://schemas.openxmlformats.org/drawingml/2006/main">
            <a:off x="8677275" y="4276725"/>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4C9D5"/>
                </a:solidFill>
                <a:latin typeface="Arial"/>
                <a:ea typeface="Arial"/>
                <a:cs typeface="Arial"/>
              </a:defRPr>
            </a:pPr>
            <a:r>
              <a:rPr sz="1425" b="0">
                <a:solidFill>
                  <a:srgbClr val="B4C9D5"/>
                </a:solidFill>
                <a:latin typeface="Arial"/>
                <a:ea typeface="Arial"/>
                <a:cs typeface="Arial"/>
              </a:rPr>
              <a:t>Branches, scores, and stop reasons</a:t>
            </a:r>
          </a:p>
        </p:txBody>
      </p:sp>
      <p:sp>
        <p:nvSpPr>
          <p:cNvPr id="15" name="">
            <a:extLst xmlns:a="http://schemas.openxmlformats.org/drawingml/2006/main">
              <a:ext uri="{FF2B5EF4-FFF2-40B4-BE49-F238E27FC236}">
                <a16:creationId xmlns:a16="http://schemas.microsoft.com/office/drawing/2014/main" id="{FE2611F0-D92F-423D-8988-B0328BD291AF}"/>
              </a:ext>
            </a:extLst>
          </p:cNvPr>
          <p:cNvSpPr>
            <a:spLocks xmlns:a="http://schemas.openxmlformats.org/drawingml/2006/main" noGrp="1"/>
          </p:cNvSpPr>
          <p:nvPr/>
        </p:nvSpPr>
        <p:spPr>
          <a:xfrm xmlns:a="http://schemas.openxmlformats.org/drawingml/2006/main">
            <a:off x="8677275" y="4581525"/>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82D4E5"/>
                </a:solidFill>
                <a:latin typeface="Arial"/>
                <a:ea typeface="Arial"/>
                <a:cs typeface="Arial"/>
              </a:defRPr>
            </a:pPr>
            <a:r>
              <a:rPr sz="1800" b="1">
                <a:solidFill>
                  <a:srgbClr val="82D4E5"/>
                </a:solidFill>
                <a:latin typeface="Arial"/>
                <a:ea typeface="Arial"/>
                <a:cs typeface="Arial"/>
              </a:rPr>
              <a:t>Health</a:t>
            </a:r>
          </a:p>
        </p:txBody>
      </p:sp>
      <p:sp>
        <p:nvSpPr>
          <p:cNvPr id="16" name="">
            <a:extLst xmlns:a="http://schemas.openxmlformats.org/drawingml/2006/main">
              <a:ext uri="{FF2B5EF4-FFF2-40B4-BE49-F238E27FC236}">
                <a16:creationId xmlns:a16="http://schemas.microsoft.com/office/drawing/2014/main" id="{E9C3C273-EC4F-4053-B4CF-60EAC2587BF9}"/>
              </a:ext>
            </a:extLst>
          </p:cNvPr>
          <p:cNvSpPr>
            <a:spLocks xmlns:a="http://schemas.openxmlformats.org/drawingml/2006/main" noGrp="1"/>
          </p:cNvSpPr>
          <p:nvPr/>
        </p:nvSpPr>
        <p:spPr>
          <a:xfrm xmlns:a="http://schemas.openxmlformats.org/drawingml/2006/main">
            <a:off x="8677275" y="4857750"/>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4C9D5"/>
                </a:solidFill>
                <a:latin typeface="Arial"/>
                <a:ea typeface="Arial"/>
                <a:cs typeface="Arial"/>
              </a:defRPr>
            </a:pPr>
            <a:r>
              <a:rPr sz="1425" b="0">
                <a:solidFill>
                  <a:srgbClr val="B4C9D5"/>
                </a:solidFill>
                <a:latin typeface="Arial"/>
                <a:ea typeface="Arial"/>
                <a:cs typeface="Arial"/>
              </a:rPr>
              <a:t>Source and dependency readiness</a:t>
            </a:r>
          </a:p>
        </p:txBody>
      </p:sp>
      <p:sp>
        <p:nvSpPr>
          <p:cNvPr id="17" name="">
            <a:extLst xmlns:a="http://schemas.openxmlformats.org/drawingml/2006/main">
              <a:ext uri="{FF2B5EF4-FFF2-40B4-BE49-F238E27FC236}">
                <a16:creationId xmlns:a16="http://schemas.microsoft.com/office/drawing/2014/main" id="{D32EBC92-DEFC-4614-9F95-3081809F5AA4}"/>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8" name="">
            <a:extLst xmlns:a="http://schemas.openxmlformats.org/drawingml/2006/main">
              <a:ext uri="{FF2B5EF4-FFF2-40B4-BE49-F238E27FC236}">
                <a16:creationId xmlns:a16="http://schemas.microsoft.com/office/drawing/2014/main" id="{92D4A8AC-08FB-454B-B7CD-5E8AD139F077}"/>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Makes the working agent inspectable from one local console.</a:t>
            </a:r>
          </a:p>
        </p:txBody>
      </p:sp>
      <p:sp>
        <p:nvSpPr>
          <p:cNvPr id="19" name="">
            <a:extLst xmlns:a="http://schemas.openxmlformats.org/drawingml/2006/main">
              <a:ext uri="{FF2B5EF4-FFF2-40B4-BE49-F238E27FC236}">
                <a16:creationId xmlns:a16="http://schemas.microsoft.com/office/drawing/2014/main" id="{56B289BF-8782-4053-A748-CB9CBDEB6224}"/>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20" name="">
            <a:extLst xmlns:a="http://schemas.openxmlformats.org/drawingml/2006/main">
              <a:ext uri="{FF2B5EF4-FFF2-40B4-BE49-F238E27FC236}">
                <a16:creationId xmlns:a16="http://schemas.microsoft.com/office/drawing/2014/main" id="{10F4F994-E58F-431B-8024-187E6912270F}"/>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A result is easier to debug when its evidence and decisions are visible.</a:t>
            </a:r>
          </a:p>
        </p:txBody>
      </p:sp>
    </p:spTree>
    <p:extLst>
      <p:ext uri="{BB962C8B-B14F-4D97-AF65-F5344CB8AC3E}">
        <p14:creationId xmlns:p14="http://schemas.microsoft.com/office/powerpoint/2010/main" val="706478118"/>
      </p:ext>
    </p:extLst>
  </p:cSld>
</p:sld>
</file>

<file path=ppt/slides/slide9.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715C0C-AD41-4661-BB46-CDE4A0687EE0}"/>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Final evaluation   Implemented behavior and limits</a:t>
            </a:r>
          </a:p>
        </p:txBody>
      </p:sp>
      <p:sp>
        <p:nvSpPr>
          <p:cNvPr id="2" name="">
            <a:extLst xmlns:a="http://schemas.openxmlformats.org/drawingml/2006/main">
              <a:ext uri="{FF2B5EF4-FFF2-40B4-BE49-F238E27FC236}">
                <a16:creationId xmlns:a16="http://schemas.microsoft.com/office/drawing/2014/main" id="{AE3C6F4B-2BE7-4A64-97B6-1470CD53ECA0}"/>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Evidence supports the integrated workflow</a:t>
            </a:r>
          </a:p>
        </p:txBody>
      </p:sp>
      <p:sp>
        <p:nvSpPr>
          <p:cNvPr id="3" name="">
            <a:extLst xmlns:a="http://schemas.openxmlformats.org/drawingml/2006/main">
              <a:ext uri="{FF2B5EF4-FFF2-40B4-BE49-F238E27FC236}">
                <a16:creationId xmlns:a16="http://schemas.microsoft.com/office/drawing/2014/main" id="{A9D84F9E-3D21-40DC-ACCA-B4921C24AF15}"/>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9 / 10</a:t>
            </a:r>
          </a:p>
        </p:txBody>
      </p:sp>
      <p:sp>
        <p:nvSpPr>
          <p:cNvPr id="4" name="">
            <a:extLst xmlns:a="http://schemas.openxmlformats.org/drawingml/2006/main">
              <a:ext uri="{FF2B5EF4-FFF2-40B4-BE49-F238E27FC236}">
                <a16:creationId xmlns:a16="http://schemas.microsoft.com/office/drawing/2014/main" id="{8B653393-824E-4960-8970-6C85B6126729}"/>
              </a:ext>
            </a:extLst>
          </p:cNvPr>
          <p:cNvSpPr>
            <a:spLocks xmlns:a="http://schemas.openxmlformats.org/drawingml/2006/main" noGrp="1"/>
          </p:cNvSpPr>
          <p:nvPr/>
        </p:nvSpPr>
        <p:spPr>
          <a:xfrm xmlns:a="http://schemas.openxmlformats.org/drawingml/2006/main">
            <a:off x="609600" y="182880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82D4E5"/>
                </a:solidFill>
                <a:latin typeface="Arial"/>
                <a:ea typeface="Arial"/>
                <a:cs typeface="Arial"/>
              </a:defRPr>
            </a:pPr>
            <a:r>
              <a:rPr sz="6000" b="1">
                <a:solidFill>
                  <a:srgbClr val="82D4E5"/>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D04108FB-E04C-4533-AB54-6309908D2C75}"/>
              </a:ext>
            </a:extLst>
          </p:cNvPr>
          <p:cNvSpPr>
            <a:spLocks xmlns:a="http://schemas.openxmlformats.org/drawingml/2006/main" noGrp="1"/>
          </p:cNvSpPr>
          <p:nvPr/>
        </p:nvSpPr>
        <p:spPr>
          <a:xfrm xmlns:a="http://schemas.openxmlformats.org/drawingml/2006/main">
            <a:off x="609600" y="2952750"/>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2F7FA"/>
                </a:solidFill>
                <a:latin typeface="Arial"/>
                <a:ea typeface="Arial"/>
                <a:cs typeface="Arial"/>
              </a:defRPr>
            </a:pPr>
            <a:r>
              <a:rPr sz="2025" b="0">
                <a:solidFill>
                  <a:srgbClr val="F2F7FA"/>
                </a:solidFill>
                <a:latin typeface="Arial"/>
                <a:ea typeface="Arial"/>
                <a:cs typeface="Arial"/>
              </a:rPr>
              <a:t>Unit and integration tests</a:t>
            </a:r>
          </a:p>
        </p:txBody>
      </p:sp>
      <p:sp>
        <p:nvSpPr>
          <p:cNvPr id="6" name="">
            <a:extLst xmlns:a="http://schemas.openxmlformats.org/drawingml/2006/main">
              <a:ext uri="{FF2B5EF4-FFF2-40B4-BE49-F238E27FC236}">
                <a16:creationId xmlns:a16="http://schemas.microsoft.com/office/drawing/2014/main" id="{15A9B1F2-C622-462A-BE99-C9BAAA3C1A9D}"/>
              </a:ext>
            </a:extLst>
          </p:cNvPr>
          <p:cNvSpPr>
            <a:spLocks xmlns:a="http://schemas.openxmlformats.org/drawingml/2006/main" noGrp="1"/>
          </p:cNvSpPr>
          <p:nvPr/>
        </p:nvSpPr>
        <p:spPr>
          <a:xfrm xmlns:a="http://schemas.openxmlformats.org/drawingml/2006/main">
            <a:off x="3228975" y="1828800"/>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82D4E5"/>
                </a:solidFill>
                <a:latin typeface="Arial"/>
                <a:ea typeface="Arial"/>
                <a:cs typeface="Arial"/>
              </a:defRPr>
            </a:pPr>
            <a:r>
              <a:rPr sz="6000" b="1">
                <a:solidFill>
                  <a:srgbClr val="82D4E5"/>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114E9A32-D5E1-460E-A0E7-6BDF3680F55E}"/>
              </a:ext>
            </a:extLst>
          </p:cNvPr>
          <p:cNvSpPr>
            <a:spLocks xmlns:a="http://schemas.openxmlformats.org/drawingml/2006/main" noGrp="1"/>
          </p:cNvSpPr>
          <p:nvPr/>
        </p:nvSpPr>
        <p:spPr>
          <a:xfrm xmlns:a="http://schemas.openxmlformats.org/drawingml/2006/main">
            <a:off x="3228975" y="2952750"/>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2F7FA"/>
                </a:solidFill>
                <a:latin typeface="Arial"/>
                <a:ea typeface="Arial"/>
                <a:cs typeface="Arial"/>
              </a:defRPr>
            </a:pPr>
            <a:r>
              <a:rPr sz="2025" b="0">
                <a:solidFill>
                  <a:srgbClr val="F2F7FA"/>
                </a:solidFill>
                <a:latin typeface="Arial"/>
                <a:ea typeface="Arial"/>
                <a:cs typeface="Arial"/>
              </a:rPr>
              <a:t>Chromium Playwright checks</a:t>
            </a:r>
          </a:p>
        </p:txBody>
      </p:sp>
      <p:sp>
        <p:nvSpPr>
          <p:cNvPr id="8" name="">
            <a:extLst xmlns:a="http://schemas.openxmlformats.org/drawingml/2006/main">
              <a:ext uri="{FF2B5EF4-FFF2-40B4-BE49-F238E27FC236}">
                <a16:creationId xmlns:a16="http://schemas.microsoft.com/office/drawing/2014/main" id="{901D2152-2ECC-4961-8699-D1F00AFE407B}"/>
              </a:ext>
            </a:extLst>
          </p:cNvPr>
          <p:cNvSpPr>
            <a:spLocks xmlns:a="http://schemas.openxmlformats.org/drawingml/2006/main" noGrp="1"/>
          </p:cNvSpPr>
          <p:nvPr/>
        </p:nvSpPr>
        <p:spPr>
          <a:xfrm xmlns:a="http://schemas.openxmlformats.org/drawingml/2006/main">
            <a:off x="6305550" y="1885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2F7FA"/>
                </a:solidFill>
                <a:latin typeface="Arial"/>
                <a:ea typeface="Arial"/>
                <a:cs typeface="Arial"/>
              </a:defRPr>
            </a:pPr>
            <a:r>
              <a:rPr sz="2250" b="1">
                <a:solidFill>
                  <a:srgbClr val="F2F7FA"/>
                </a:solidFill>
                <a:latin typeface="Arial"/>
                <a:ea typeface="Arial"/>
                <a:cs typeface="Arial"/>
              </a:rPr>
              <a:t>One newer real telemetry sample</a:t>
            </a:r>
          </a:p>
        </p:txBody>
      </p:sp>
      <p:graphicFrame>
        <p:nvGraphicFramePr>
          <p:cNvPr id="24" name=""/>
          <p:cNvGraphicFramePr/>
          <p:nvPr/>
        </p:nvGraphicFramePr>
        <p:xfrm>
          <a:off xmlns:a="http://schemas.openxmlformats.org/drawingml/2006/main" x="6305550" y="2800350"/>
          <a:ext xmlns:a="http://schemas.openxmlformats.org/drawingml/2006/main" cx="5276850" cy="1752600"/>
        </p:xfrm>
        <a:graphic xmlns:a="http://schemas.openxmlformats.org/drawingml/2006/main">
          <a:graphicData uri="http://schemas.openxmlformats.org/drawingml/2006/table">
            <a:tbl>
              <a:tblPr/>
              <a:tblGrid>
                <a:gridCol w="3295650"/>
                <a:gridCol w="1981200"/>
              </a:tblGrid>
              <a:tr h="584200">
                <a:tc>
                  <a:txBody>
                    <a:bodyPr/>
                    <a:lstStyle/>
                    <a:p>
                      <a:r>
                        <a:rPr sz="1650" b="1">
                          <a:solidFill>
                            <a:srgbClr val="82D4E5"/>
                          </a:solidFill>
                          <a:latin typeface="Arial"/>
                          <a:ea typeface="Arial"/>
                          <a:cs typeface="Arial"/>
                        </a:rPr>
                        <a:t>Point-power metric</a:t>
                      </a:r>
                    </a:p>
                  </a:txBody>
                  <a:tcPr marL="152400" marR="152400" marT="95250" marB="95250" anchor="ctr">
                    <a:solidFill>
                      <a:srgbClr val="183E50"/>
                    </a:solidFill>
                  </a:tcPr>
                </a:tc>
                <a:tc>
                  <a:txBody>
                    <a:bodyPr/>
                    <a:lstStyle/>
                    <a:p>
                      <a:r>
                        <a:rPr sz="1650" b="1">
                          <a:solidFill>
                            <a:srgbClr val="82D4E5"/>
                          </a:solidFill>
                          <a:latin typeface="Arial"/>
                          <a:ea typeface="Arial"/>
                          <a:cs typeface="Arial"/>
                        </a:rPr>
                        <a:t>Error</a:t>
                      </a:r>
                    </a:p>
                  </a:txBody>
                  <a:tcPr marL="152400" marR="152400" marT="95250" marB="95250" anchor="ctr">
                    <a:solidFill>
                      <a:srgbClr val="183E50"/>
                    </a:solidFill>
                  </a:tcPr>
                </a:tc>
              </a:tr>
              <a:tr h="584200">
                <a:tc>
                  <a:txBody>
                    <a:bodyPr/>
                    <a:lstStyle/>
                    <a:p>
                      <a:r>
                        <a:rPr sz="1650" b="0">
                          <a:solidFill>
                            <a:srgbClr val="F2F7FA"/>
                          </a:solidFill>
                          <a:latin typeface="Arial"/>
                          <a:ea typeface="Arial"/>
                          <a:cs typeface="Arial"/>
                        </a:rPr>
                        <a:t>Solar overestimation</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0.410 kW</a:t>
                      </a:r>
                    </a:p>
                  </a:txBody>
                  <a:tcPr marL="152400" marR="152400" marT="95250" marB="95250" anchor="ctr">
                    <a:solidFill>
                      <a:srgbClr val="102C3D"/>
                    </a:solidFill>
                  </a:tcPr>
                </a:tc>
              </a:tr>
              <a:tr h="584200">
                <a:tc>
                  <a:txBody>
                    <a:bodyPr/>
                    <a:lstStyle/>
                    <a:p>
                      <a:r>
                        <a:rPr sz="1650" b="0">
                          <a:solidFill>
                            <a:srgbClr val="F2F7FA"/>
                          </a:solidFill>
                          <a:latin typeface="Arial"/>
                          <a:ea typeface="Arial"/>
                          <a:cs typeface="Arial"/>
                        </a:rPr>
                        <a:t>Availability error</a:t>
                      </a:r>
                    </a:p>
                  </a:txBody>
                  <a:tcPr marL="152400" marR="152400" marT="95250" marB="95250" anchor="ctr">
                    <a:solidFill>
                      <a:srgbClr val="102C3D"/>
                    </a:solidFill>
                  </a:tcPr>
                </a:tc>
                <a:tc>
                  <a:txBody>
                    <a:bodyPr/>
                    <a:lstStyle/>
                    <a:p>
                      <a:r>
                        <a:rPr sz="1650" b="0">
                          <a:solidFill>
                            <a:srgbClr val="F2F7FA"/>
                          </a:solidFill>
                          <a:latin typeface="Arial"/>
                          <a:ea typeface="Arial"/>
                          <a:cs typeface="Arial"/>
                        </a:rPr>
                        <a:t>0.076 kW</a:t>
                      </a:r>
                    </a:p>
                  </a:txBody>
                  <a:tcPr marL="152400" marR="152400" marT="95250" marB="95250" anchor="ctr">
                    <a:solidFill>
                      <a:srgbClr val="102C3D"/>
                    </a:solidFill>
                  </a:tcPr>
                </a:tc>
              </a:tr>
            </a:tbl>
          </a:graphicData>
        </a:graphic>
      </p:graphicFrame>
      <p:sp>
        <p:nvSpPr>
          <p:cNvPr id="10" name="">
            <a:extLst xmlns:a="http://schemas.openxmlformats.org/drawingml/2006/main">
              <a:ext uri="{FF2B5EF4-FFF2-40B4-BE49-F238E27FC236}">
                <a16:creationId xmlns:a16="http://schemas.microsoft.com/office/drawing/2014/main" id="{03A1F9D6-568A-4C15-AF16-35391A6485AA}"/>
              </a:ext>
            </a:extLst>
          </p:cNvPr>
          <p:cNvSpPr>
            <a:spLocks xmlns:a="http://schemas.openxmlformats.org/drawingml/2006/main" noGrp="1"/>
          </p:cNvSpPr>
          <p:nvPr/>
        </p:nvSpPr>
        <p:spPr>
          <a:xfrm xmlns:a="http://schemas.openxmlformats.org/drawingml/2006/main">
            <a:off x="609600" y="42957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4C9D5"/>
                </a:solidFill>
                <a:latin typeface="Arial"/>
                <a:ea typeface="Arial"/>
                <a:cs typeface="Arial"/>
              </a:defRPr>
            </a:pPr>
            <a:r>
              <a:rPr sz="2025" b="0">
                <a:solidFill>
                  <a:srgbClr val="B4C9D5"/>
                </a:solidFill>
                <a:latin typeface="Arial"/>
                <a:ea typeface="Arial"/>
                <a:cs typeface="Arial"/>
              </a:rPr>
              <a:t>Reproducible local gate</a:t>
            </a:r>
          </a:p>
        </p:txBody>
      </p:sp>
      <p:sp>
        <p:nvSpPr>
          <p:cNvPr id="11" name="">
            <a:extLst xmlns:a="http://schemas.openxmlformats.org/drawingml/2006/main">
              <a:ext uri="{FF2B5EF4-FFF2-40B4-BE49-F238E27FC236}">
                <a16:creationId xmlns:a16="http://schemas.microsoft.com/office/drawing/2014/main" id="{EEAA1A7C-1D3E-4ECD-ADCF-77E3B1A14A8F}"/>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2" name="">
            <a:extLst xmlns:a="http://schemas.openxmlformats.org/drawingml/2006/main">
              <a:ext uri="{FF2B5EF4-FFF2-40B4-BE49-F238E27FC236}">
                <a16:creationId xmlns:a16="http://schemas.microsoft.com/office/drawing/2014/main" id="{002236BD-4270-4F84-A6BB-371734328474}"/>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Tests arithmetic, boundaries, persistence, retrieval, and the browser flow.</a:t>
            </a:r>
          </a:p>
        </p:txBody>
      </p:sp>
      <p:sp>
        <p:nvSpPr>
          <p:cNvPr id="13" name="">
            <a:extLst xmlns:a="http://schemas.openxmlformats.org/drawingml/2006/main">
              <a:ext uri="{FF2B5EF4-FFF2-40B4-BE49-F238E27FC236}">
                <a16:creationId xmlns:a16="http://schemas.microsoft.com/office/drawing/2014/main" id="{BBC03214-1B25-49FB-AD06-E92FB91A3BB4}"/>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14" name="">
            <a:extLst xmlns:a="http://schemas.openxmlformats.org/drawingml/2006/main">
              <a:ext uri="{FF2B5EF4-FFF2-40B4-BE49-F238E27FC236}">
                <a16:creationId xmlns:a16="http://schemas.microsoft.com/office/drawing/2014/main" id="{3450FECD-4834-467C-8CEB-0FD4E246472D}"/>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Separates software correctness from forecast and advice quality.</a:t>
            </a:r>
          </a:p>
        </p:txBody>
      </p:sp>
      <p:sp>
        <p:nvSpPr>
          <p:cNvPr id="15" name="">
            <a:extLst xmlns:a="http://schemas.openxmlformats.org/drawingml/2006/main">
              <a:ext uri="{FF2B5EF4-FFF2-40B4-BE49-F238E27FC236}">
                <a16:creationId xmlns:a16="http://schemas.microsoft.com/office/drawing/2014/main" id="{144C4BBE-DA6A-41A2-B4BB-823060D4364C}"/>
              </a:ext>
            </a:extLst>
          </p:cNvPr>
          <p:cNvSpPr>
            <a:spLocks xmlns:a="http://schemas.openxmlformats.org/drawingml/2006/main" noGrp="1"/>
          </p:cNvSpPr>
          <p:nvPr/>
        </p:nvSpPr>
        <p:spPr>
          <a:xfrm xmlns:a="http://schemas.openxmlformats.org/drawingml/2006/main">
            <a:off x="609600" y="6410325"/>
            <a:ext cx="1019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4C9D5"/>
                </a:solidFill>
                <a:latin typeface="Arial"/>
                <a:ea typeface="Arial"/>
                <a:cs typeface="Arial"/>
              </a:defRPr>
            </a:pPr>
            <a:r>
              <a:rPr sz="1200" b="0">
                <a:solidFill>
                  <a:srgbClr val="B4C9D5"/>
                </a:solidFill>
                <a:latin typeface="Arial"/>
                <a:ea typeface="Arial"/>
                <a:cs typeface="Arial"/>
              </a:rPr>
              <a:t>Required tests use model doubles. Live checks are small demonstrations, not accuracy rates.</a:t>
            </a:r>
          </a:p>
        </p:txBody>
      </p:sp>
    </p:spTree>
    <p:extLst>
      <p:ext uri="{BB962C8B-B14F-4D97-AF65-F5344CB8AC3E}">
        <p14:creationId xmlns:p14="http://schemas.microsoft.com/office/powerpoint/2010/main" val="1315444269"/>
      </p:ext>
    </p:extLst>
  </p:cSld>
</p:sld>
</file>

<file path=ppt/slides/slide10.xml><?xml version="1.0" encoding="utf-8"?>
<p:sld xmlns:p="http://schemas.openxmlformats.org/presentationml/2006/main">
  <p:cSld>
    <p:bg>
      <p:bgPr>
        <a:solidFill xmlns:a="http://schemas.openxmlformats.org/drawingml/2006/main">
          <a:srgbClr val="0B182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338C175-E8B7-4A0F-A41F-E9A87AF6465B}"/>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2D4E5"/>
                </a:solidFill>
                <a:latin typeface="Arial"/>
                <a:ea typeface="Arial"/>
                <a:cs typeface="Arial"/>
              </a:defRPr>
            </a:pPr>
            <a:r>
              <a:rPr sz="1275" b="0">
                <a:solidFill>
                  <a:srgbClr val="82D4E5"/>
                </a:solidFill>
                <a:latin typeface="Arial"/>
                <a:ea typeface="Arial"/>
                <a:cs typeface="Arial"/>
              </a:rPr>
              <a:t>Capstone review and continuation</a:t>
            </a:r>
          </a:p>
        </p:txBody>
      </p:sp>
      <p:sp>
        <p:nvSpPr>
          <p:cNvPr id="2" name="">
            <a:extLst xmlns:a="http://schemas.openxmlformats.org/drawingml/2006/main">
              <a:ext uri="{FF2B5EF4-FFF2-40B4-BE49-F238E27FC236}">
                <a16:creationId xmlns:a16="http://schemas.microsoft.com/office/drawing/2014/main" id="{DB801EBE-FE02-4C63-A09D-855F85167DC1}"/>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2F7FA"/>
                </a:solidFill>
                <a:latin typeface="Arial"/>
                <a:ea typeface="Arial"/>
                <a:cs typeface="Arial"/>
              </a:defRPr>
            </a:pPr>
            <a:r>
              <a:rPr sz="3225" b="1">
                <a:solidFill>
                  <a:srgbClr val="F2F7FA"/>
                </a:solidFill>
                <a:latin typeface="Arial"/>
                <a:ea typeface="Arial"/>
                <a:cs typeface="Arial"/>
              </a:rPr>
              <a:t>Repository and next steps</a:t>
            </a:r>
          </a:p>
        </p:txBody>
      </p:sp>
      <p:sp>
        <p:nvSpPr>
          <p:cNvPr id="3" name="">
            <a:extLst xmlns:a="http://schemas.openxmlformats.org/drawingml/2006/main">
              <a:ext uri="{FF2B5EF4-FFF2-40B4-BE49-F238E27FC236}">
                <a16:creationId xmlns:a16="http://schemas.microsoft.com/office/drawing/2014/main" id="{6E86CB0B-3F96-44CC-823D-1C2F94243D56}"/>
              </a:ext>
            </a:extLst>
          </p:cNvPr>
          <p:cNvSpPr>
            <a:spLocks xmlns:a="http://schemas.openxmlformats.org/drawingml/2006/main" noGrp="1"/>
          </p:cNvSpPr>
          <p:nvPr/>
        </p:nvSpPr>
        <p:spPr>
          <a:xfrm xmlns:a="http://schemas.openxmlformats.org/drawingml/2006/main">
            <a:off x="10953750" y="6553200"/>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B4C9D5"/>
                </a:solidFill>
                <a:latin typeface="Arial"/>
                <a:ea typeface="Arial"/>
                <a:cs typeface="Arial"/>
              </a:defRPr>
            </a:pPr>
            <a:r>
              <a:rPr sz="1050" b="0">
                <a:solidFill>
                  <a:srgbClr val="B4C9D5"/>
                </a:solidFill>
                <a:latin typeface="Arial"/>
                <a:ea typeface="Arial"/>
                <a:cs typeface="Arial"/>
              </a:rPr>
              <a:t>10 / 10</a:t>
            </a:r>
          </a:p>
        </p:txBody>
      </p:sp>
      <p:sp>
        <p:nvSpPr>
          <p:cNvPr id="4" name="">
            <a:extLst xmlns:a="http://schemas.openxmlformats.org/drawingml/2006/main">
              <a:ext uri="{FF2B5EF4-FFF2-40B4-BE49-F238E27FC236}">
                <a16:creationId xmlns:a16="http://schemas.microsoft.com/office/drawing/2014/main" id="{12457CD2-966B-41A5-8A55-7D0759EA8543}"/>
              </a:ext>
            </a:extLst>
          </p:cNvPr>
          <p:cNvSpPr>
            <a:spLocks xmlns:a="http://schemas.openxmlformats.org/drawingml/2006/main" noGrp="1"/>
          </p:cNvSpPr>
          <p:nvPr/>
        </p:nvSpPr>
        <p:spPr>
          <a:xfrm xmlns:a="http://schemas.openxmlformats.org/drawingml/2006/main">
            <a:off x="609600" y="1666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82D4E5"/>
                </a:solidFill>
                <a:latin typeface="Arial"/>
                <a:ea typeface="Arial"/>
                <a:cs typeface="Arial"/>
              </a:defRPr>
            </a:pPr>
            <a:r>
              <a:rPr sz="2550" b="0">
                <a:solidFill>
                  <a:srgbClr val="82D4E5"/>
                </a:solidFill>
                <a:latin typeface="Arial"/>
                <a:ea typeface="Arial"/>
                <a:cs typeface="Arial"/>
              </a:rPr>
              <a:t>https://github.com/roboyak/PAP-Agent</a:t>
            </a:r>
          </a:p>
        </p:txBody>
      </p:sp>
      <p:sp>
        <p:nvSpPr>
          <p:cNvPr id="5" name="">
            <a:extLst xmlns:a="http://schemas.openxmlformats.org/drawingml/2006/main">
              <a:ext uri="{FF2B5EF4-FFF2-40B4-BE49-F238E27FC236}">
                <a16:creationId xmlns:a16="http://schemas.microsoft.com/office/drawing/2014/main" id="{B4575F2C-A35F-43B3-B4C0-05EAD28299A0}"/>
              </a:ext>
            </a:extLst>
          </p:cNvPr>
          <p:cNvSpPr>
            <a:spLocks xmlns:a="http://schemas.openxmlformats.org/drawingml/2006/main" noGrp="1"/>
          </p:cNvSpPr>
          <p:nvPr/>
        </p:nvSpPr>
        <p:spPr>
          <a:xfrm xmlns:a="http://schemas.openxmlformats.org/drawingml/2006/main">
            <a:off x="609600" y="242887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2F7FA"/>
                </a:solidFill>
                <a:latin typeface="Arial"/>
                <a:ea typeface="Arial"/>
                <a:cs typeface="Arial"/>
              </a:defRPr>
            </a:pPr>
            <a:r>
              <a:rPr sz="1725" b="1">
                <a:solidFill>
                  <a:srgbClr val="F2F7FA"/>
                </a:solidFill>
                <a:latin typeface="Arial"/>
                <a:ea typeface="Arial"/>
                <a:cs typeface="Arial"/>
              </a:rPr>
              <a:t>README.md</a:t>
            </a:r>
          </a:p>
        </p:txBody>
      </p:sp>
      <p:sp>
        <p:nvSpPr>
          <p:cNvPr id="6" name="">
            <a:extLst xmlns:a="http://schemas.openxmlformats.org/drawingml/2006/main">
              <a:ext uri="{FF2B5EF4-FFF2-40B4-BE49-F238E27FC236}">
                <a16:creationId xmlns:a16="http://schemas.microsoft.com/office/drawing/2014/main" id="{23C47027-9885-47D9-85C9-CEF5EFA7C32B}"/>
              </a:ext>
            </a:extLst>
          </p:cNvPr>
          <p:cNvSpPr>
            <a:spLocks xmlns:a="http://schemas.openxmlformats.org/drawingml/2006/main" noGrp="1"/>
          </p:cNvSpPr>
          <p:nvPr/>
        </p:nvSpPr>
        <p:spPr>
          <a:xfrm xmlns:a="http://schemas.openxmlformats.org/drawingml/2006/main">
            <a:off x="609600" y="26860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4C9D5"/>
                </a:solidFill>
                <a:latin typeface="Arial"/>
                <a:ea typeface="Arial"/>
                <a:cs typeface="Arial"/>
              </a:defRPr>
            </a:pPr>
            <a:r>
              <a:rPr sz="1500" b="0">
                <a:solidFill>
                  <a:srgbClr val="B4C9D5"/>
                </a:solidFill>
                <a:latin typeface="Arial"/>
                <a:ea typeface="Arial"/>
                <a:cs typeface="Arial"/>
              </a:rPr>
              <a:t>Setup and usage</a:t>
            </a:r>
          </a:p>
        </p:txBody>
      </p:sp>
      <p:sp>
        <p:nvSpPr>
          <p:cNvPr id="7" name="">
            <a:extLst xmlns:a="http://schemas.openxmlformats.org/drawingml/2006/main">
              <a:ext uri="{FF2B5EF4-FFF2-40B4-BE49-F238E27FC236}">
                <a16:creationId xmlns:a16="http://schemas.microsoft.com/office/drawing/2014/main" id="{DA9FB873-2435-40B5-A262-A02362E857BA}"/>
              </a:ext>
            </a:extLst>
          </p:cNvPr>
          <p:cNvSpPr>
            <a:spLocks xmlns:a="http://schemas.openxmlformats.org/drawingml/2006/main" noGrp="1"/>
          </p:cNvSpPr>
          <p:nvPr/>
        </p:nvSpPr>
        <p:spPr>
          <a:xfrm xmlns:a="http://schemas.openxmlformats.org/drawingml/2006/main">
            <a:off x="609600" y="29527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2F7FA"/>
                </a:solidFill>
                <a:latin typeface="Arial"/>
                <a:ea typeface="Arial"/>
                <a:cs typeface="Arial"/>
              </a:defRPr>
            </a:pPr>
            <a:r>
              <a:rPr sz="1725" b="1">
                <a:solidFill>
                  <a:srgbClr val="F2F7FA"/>
                </a:solidFill>
                <a:latin typeface="Arial"/>
                <a:ea typeface="Arial"/>
                <a:cs typeface="Arial"/>
              </a:rPr>
              <a:t>src/pap_agent/</a:t>
            </a:r>
          </a:p>
        </p:txBody>
      </p:sp>
      <p:sp>
        <p:nvSpPr>
          <p:cNvPr id="8" name="">
            <a:extLst xmlns:a="http://schemas.openxmlformats.org/drawingml/2006/main">
              <a:ext uri="{FF2B5EF4-FFF2-40B4-BE49-F238E27FC236}">
                <a16:creationId xmlns:a16="http://schemas.microsoft.com/office/drawing/2014/main" id="{364F2874-D5CF-4491-B3BF-39658C94A4DB}"/>
              </a:ext>
            </a:extLst>
          </p:cNvPr>
          <p:cNvSpPr>
            <a:spLocks xmlns:a="http://schemas.openxmlformats.org/drawingml/2006/main" noGrp="1"/>
          </p:cNvSpPr>
          <p:nvPr/>
        </p:nvSpPr>
        <p:spPr>
          <a:xfrm xmlns:a="http://schemas.openxmlformats.org/drawingml/2006/main">
            <a:off x="609600" y="32099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4C9D5"/>
                </a:solidFill>
                <a:latin typeface="Arial"/>
                <a:ea typeface="Arial"/>
                <a:cs typeface="Arial"/>
              </a:defRPr>
            </a:pPr>
            <a:r>
              <a:rPr sz="1500" b="0">
                <a:solidFill>
                  <a:srgbClr val="B4C9D5"/>
                </a:solidFill>
                <a:latin typeface="Arial"/>
                <a:ea typeface="Arial"/>
                <a:cs typeface="Arial"/>
              </a:rPr>
              <a:t>Workflow, tools, models, and UI</a:t>
            </a:r>
          </a:p>
        </p:txBody>
      </p:sp>
      <p:sp>
        <p:nvSpPr>
          <p:cNvPr id="9" name="">
            <a:extLst xmlns:a="http://schemas.openxmlformats.org/drawingml/2006/main">
              <a:ext uri="{FF2B5EF4-FFF2-40B4-BE49-F238E27FC236}">
                <a16:creationId xmlns:a16="http://schemas.microsoft.com/office/drawing/2014/main" id="{9CACBA2E-A771-46A3-B840-E179BED97BB7}"/>
              </a:ext>
            </a:extLst>
          </p:cNvPr>
          <p:cNvSpPr>
            <a:spLocks xmlns:a="http://schemas.openxmlformats.org/drawingml/2006/main" noGrp="1"/>
          </p:cNvSpPr>
          <p:nvPr/>
        </p:nvSpPr>
        <p:spPr>
          <a:xfrm xmlns:a="http://schemas.openxmlformats.org/drawingml/2006/main">
            <a:off x="609600" y="347662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2F7FA"/>
                </a:solidFill>
                <a:latin typeface="Arial"/>
                <a:ea typeface="Arial"/>
                <a:cs typeface="Arial"/>
              </a:defRPr>
            </a:pPr>
            <a:r>
              <a:rPr sz="1725" b="1">
                <a:solidFill>
                  <a:srgbClr val="F2F7FA"/>
                </a:solidFill>
                <a:latin typeface="Arial"/>
                <a:ea typeface="Arial"/>
                <a:cs typeface="Arial"/>
              </a:rPr>
              <a:t>tests/ and docs/pr/</a:t>
            </a:r>
          </a:p>
        </p:txBody>
      </p:sp>
      <p:sp>
        <p:nvSpPr>
          <p:cNvPr id="10" name="">
            <a:extLst xmlns:a="http://schemas.openxmlformats.org/drawingml/2006/main">
              <a:ext uri="{FF2B5EF4-FFF2-40B4-BE49-F238E27FC236}">
                <a16:creationId xmlns:a16="http://schemas.microsoft.com/office/drawing/2014/main" id="{4C163ACD-1F49-4480-96B9-FAA0AEB5F743}"/>
              </a:ext>
            </a:extLst>
          </p:cNvPr>
          <p:cNvSpPr>
            <a:spLocks xmlns:a="http://schemas.openxmlformats.org/drawingml/2006/main" noGrp="1"/>
          </p:cNvSpPr>
          <p:nvPr/>
        </p:nvSpPr>
        <p:spPr>
          <a:xfrm xmlns:a="http://schemas.openxmlformats.org/drawingml/2006/main">
            <a:off x="609600" y="37338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4C9D5"/>
                </a:solidFill>
                <a:latin typeface="Arial"/>
                <a:ea typeface="Arial"/>
                <a:cs typeface="Arial"/>
              </a:defRPr>
            </a:pPr>
            <a:r>
              <a:rPr sz="1500" b="0">
                <a:solidFill>
                  <a:srgbClr val="B4C9D5"/>
                </a:solidFill>
                <a:latin typeface="Arial"/>
                <a:ea typeface="Arial"/>
                <a:cs typeface="Arial"/>
              </a:rPr>
              <a:t>Verification and teaching evidence</a:t>
            </a:r>
          </a:p>
        </p:txBody>
      </p:sp>
      <p:sp>
        <p:nvSpPr>
          <p:cNvPr id="11" name="">
            <a:extLst xmlns:a="http://schemas.openxmlformats.org/drawingml/2006/main">
              <a:ext uri="{FF2B5EF4-FFF2-40B4-BE49-F238E27FC236}">
                <a16:creationId xmlns:a16="http://schemas.microsoft.com/office/drawing/2014/main" id="{9B1376BE-6C55-4820-9F33-0C79A6330684}"/>
              </a:ext>
            </a:extLst>
          </p:cNvPr>
          <p:cNvSpPr>
            <a:spLocks xmlns:a="http://schemas.openxmlformats.org/drawingml/2006/main" noGrp="1"/>
          </p:cNvSpPr>
          <p:nvPr/>
        </p:nvSpPr>
        <p:spPr>
          <a:xfrm xmlns:a="http://schemas.openxmlformats.org/drawingml/2006/main">
            <a:off x="609600" y="40005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2F7FA"/>
                </a:solidFill>
                <a:latin typeface="Arial"/>
                <a:ea typeface="Arial"/>
                <a:cs typeface="Arial"/>
              </a:defRPr>
            </a:pPr>
            <a:r>
              <a:rPr sz="1725" b="1">
                <a:solidFill>
                  <a:srgbClr val="F2F7FA"/>
                </a:solidFill>
                <a:latin typeface="Arial"/>
                <a:ea typeface="Arial"/>
                <a:cs typeface="Arial"/>
              </a:rPr>
              <a:t>submission/</a:t>
            </a:r>
          </a:p>
        </p:txBody>
      </p:sp>
      <p:sp>
        <p:nvSpPr>
          <p:cNvPr id="12" name="">
            <a:extLst xmlns:a="http://schemas.openxmlformats.org/drawingml/2006/main">
              <a:ext uri="{FF2B5EF4-FFF2-40B4-BE49-F238E27FC236}">
                <a16:creationId xmlns:a16="http://schemas.microsoft.com/office/drawing/2014/main" id="{D1FC5DD1-A089-4CBC-9ECC-DCDA53754D65}"/>
              </a:ext>
            </a:extLst>
          </p:cNvPr>
          <p:cNvSpPr>
            <a:spLocks xmlns:a="http://schemas.openxmlformats.org/drawingml/2006/main" noGrp="1"/>
          </p:cNvSpPr>
          <p:nvPr/>
        </p:nvSpPr>
        <p:spPr>
          <a:xfrm xmlns:a="http://schemas.openxmlformats.org/drawingml/2006/main">
            <a:off x="609600" y="4257675"/>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4C9D5"/>
                </a:solidFill>
                <a:latin typeface="Arial"/>
                <a:ea typeface="Arial"/>
                <a:cs typeface="Arial"/>
              </a:defRPr>
            </a:pPr>
            <a:r>
              <a:rPr sz="1500" b="0">
                <a:solidFill>
                  <a:srgbClr val="B4C9D5"/>
                </a:solidFill>
                <a:latin typeface="Arial"/>
                <a:ea typeface="Arial"/>
                <a:cs typeface="Arial"/>
              </a:rPr>
              <a:t>Editable content and artifact builders</a:t>
            </a:r>
          </a:p>
        </p:txBody>
      </p:sp>
      <p:sp>
        <p:nvSpPr>
          <p:cNvPr id="13" name="">
            <a:extLst xmlns:a="http://schemas.openxmlformats.org/drawingml/2006/main">
              <a:ext uri="{FF2B5EF4-FFF2-40B4-BE49-F238E27FC236}">
                <a16:creationId xmlns:a16="http://schemas.microsoft.com/office/drawing/2014/main" id="{B10006F8-93EF-40AE-BF16-4A46A8D33D54}"/>
              </a:ext>
            </a:extLst>
          </p:cNvPr>
          <p:cNvSpPr>
            <a:spLocks xmlns:a="http://schemas.openxmlformats.org/drawingml/2006/main" noGrp="1"/>
          </p:cNvSpPr>
          <p:nvPr/>
        </p:nvSpPr>
        <p:spPr>
          <a:xfrm xmlns:a="http://schemas.openxmlformats.org/drawingml/2006/main">
            <a:off x="7429500" y="2428875"/>
            <a:ext cx="415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E8B362"/>
                </a:solidFill>
                <a:latin typeface="Arial"/>
                <a:ea typeface="Arial"/>
                <a:cs typeface="Arial"/>
              </a:defRPr>
            </a:pPr>
            <a:r>
              <a:rPr sz="2100" b="1">
                <a:solidFill>
                  <a:srgbClr val="E8B362"/>
                </a:solidFill>
                <a:latin typeface="Arial"/>
                <a:ea typeface="Arial"/>
                <a:cs typeface="Arial"/>
              </a:rPr>
              <a:t>Next improvements</a:t>
            </a:r>
          </a:p>
        </p:txBody>
      </p:sp>
      <p:sp>
        <p:nvSpPr>
          <p:cNvPr id="14" name="">
            <a:extLst xmlns:a="http://schemas.openxmlformats.org/drawingml/2006/main">
              <a:ext uri="{FF2B5EF4-FFF2-40B4-BE49-F238E27FC236}">
                <a16:creationId xmlns:a16="http://schemas.microsoft.com/office/drawing/2014/main" id="{275ED85A-B700-48AA-B39A-BC1C4E50EEBE}"/>
              </a:ext>
            </a:extLst>
          </p:cNvPr>
          <p:cNvSpPr>
            <a:spLocks xmlns:a="http://schemas.openxmlformats.org/drawingml/2006/main" noGrp="1"/>
          </p:cNvSpPr>
          <p:nvPr/>
        </p:nvSpPr>
        <p:spPr>
          <a:xfrm xmlns:a="http://schemas.openxmlformats.org/drawingml/2006/main">
            <a:off x="7429500" y="3009900"/>
            <a:ext cx="4152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2F7FA"/>
                </a:solidFill>
                <a:latin typeface="Arial"/>
                <a:ea typeface="Arial"/>
                <a:cs typeface="Arial"/>
              </a:defRPr>
            </a:pPr>
            <a:r>
              <a:rPr sz="1875" b="0">
                <a:solidFill>
                  <a:srgbClr val="F2F7FA"/>
                </a:solidFill>
                <a:latin typeface="Arial"/>
                <a:ea typeface="Arial"/>
                <a:cs typeface="Arial"/>
              </a:rPr>
              <a:t>Validated weather and equipment limits</a:t>
            </a:r>
          </a:p>
        </p:txBody>
      </p:sp>
      <p:sp>
        <p:nvSpPr>
          <p:cNvPr id="15" name="">
            <a:extLst xmlns:a="http://schemas.openxmlformats.org/drawingml/2006/main">
              <a:ext uri="{FF2B5EF4-FFF2-40B4-BE49-F238E27FC236}">
                <a16:creationId xmlns:a16="http://schemas.microsoft.com/office/drawing/2014/main" id="{1B751AD5-BA7C-400F-B027-57EB4E6482BE}"/>
              </a:ext>
            </a:extLst>
          </p:cNvPr>
          <p:cNvSpPr>
            <a:spLocks xmlns:a="http://schemas.openxmlformats.org/drawingml/2006/main" noGrp="1"/>
          </p:cNvSpPr>
          <p:nvPr/>
        </p:nvSpPr>
        <p:spPr>
          <a:xfrm xmlns:a="http://schemas.openxmlformats.org/drawingml/2006/main">
            <a:off x="7429500" y="3695700"/>
            <a:ext cx="4152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2F7FA"/>
                </a:solidFill>
                <a:latin typeface="Arial"/>
                <a:ea typeface="Arial"/>
                <a:cs typeface="Arial"/>
              </a:defRPr>
            </a:pPr>
            <a:r>
              <a:rPr sz="1875" b="0">
                <a:solidFill>
                  <a:srgbClr val="F2F7FA"/>
                </a:solidFill>
                <a:latin typeface="Arial"/>
                <a:ea typeface="Arial"/>
                <a:cs typeface="Arial"/>
              </a:rPr>
              <a:t>Held-out forecast outcomes</a:t>
            </a:r>
          </a:p>
        </p:txBody>
      </p:sp>
      <p:sp>
        <p:nvSpPr>
          <p:cNvPr id="16" name="">
            <a:extLst xmlns:a="http://schemas.openxmlformats.org/drawingml/2006/main">
              <a:ext uri="{FF2B5EF4-FFF2-40B4-BE49-F238E27FC236}">
                <a16:creationId xmlns:a16="http://schemas.microsoft.com/office/drawing/2014/main" id="{73FEAF33-D757-49A3-8A88-821C09700261}"/>
              </a:ext>
            </a:extLst>
          </p:cNvPr>
          <p:cNvSpPr>
            <a:spLocks xmlns:a="http://schemas.openxmlformats.org/drawingml/2006/main" noGrp="1"/>
          </p:cNvSpPr>
          <p:nvPr/>
        </p:nvSpPr>
        <p:spPr>
          <a:xfrm xmlns:a="http://schemas.openxmlformats.org/drawingml/2006/main">
            <a:off x="7429500" y="4381500"/>
            <a:ext cx="4152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2F7FA"/>
                </a:solidFill>
                <a:latin typeface="Arial"/>
                <a:ea typeface="Arial"/>
                <a:cs typeface="Arial"/>
              </a:defRPr>
            </a:pPr>
            <a:r>
              <a:rPr sz="1875" b="0">
                <a:solidFill>
                  <a:srgbClr val="F2F7FA"/>
                </a:solidFill>
                <a:latin typeface="Arial"/>
                <a:ea typeface="Arial"/>
                <a:cs typeface="Arial"/>
              </a:rPr>
              <a:t>Repeated agent comparisons and operator review</a:t>
            </a:r>
          </a:p>
        </p:txBody>
      </p:sp>
      <p:sp>
        <p:nvSpPr>
          <p:cNvPr id="17" name="">
            <a:extLst xmlns:a="http://schemas.openxmlformats.org/drawingml/2006/main">
              <a:ext uri="{FF2B5EF4-FFF2-40B4-BE49-F238E27FC236}">
                <a16:creationId xmlns:a16="http://schemas.microsoft.com/office/drawing/2014/main" id="{6CB696D9-804B-49ED-86BE-C542DDDD5FC6}"/>
              </a:ext>
            </a:extLst>
          </p:cNvPr>
          <p:cNvSpPr>
            <a:spLocks xmlns:a="http://schemas.openxmlformats.org/drawingml/2006/main" noGrp="1"/>
          </p:cNvSpPr>
          <p:nvPr/>
        </p:nvSpPr>
        <p:spPr>
          <a:xfrm xmlns:a="http://schemas.openxmlformats.org/drawingml/2006/main">
            <a:off x="609600" y="4657725"/>
            <a:ext cx="6343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82D4E5"/>
                </a:solidFill>
                <a:latin typeface="Arial"/>
                <a:ea typeface="Arial"/>
                <a:cs typeface="Arial"/>
              </a:defRPr>
            </a:pPr>
            <a:r>
              <a:rPr sz="1350" b="0">
                <a:solidFill>
                  <a:srgbClr val="82D4E5"/>
                </a:solidFill>
                <a:latin typeface="Arial"/>
                <a:ea typeface="Arial"/>
                <a:cs typeface="Arial"/>
              </a:rPr>
              <a:t>make bootstrap</a:t>
            </a:r>
          </a:p>
          <a:p xmlns:a="http://schemas.openxmlformats.org/drawingml/2006/main">
            <a:pPr algn="l">
              <a:defRPr sz="1350" b="0">
                <a:solidFill>
                  <a:srgbClr val="82D4E5"/>
                </a:solidFill>
                <a:latin typeface="Arial"/>
                <a:ea typeface="Arial"/>
                <a:cs typeface="Arial"/>
              </a:defRPr>
            </a:pPr>
            <a:r>
              <a:rPr sz="1350" b="0">
                <a:solidFill>
                  <a:srgbClr val="82D4E5"/>
                </a:solidFill>
                <a:latin typeface="Arial"/>
                <a:ea typeface="Arial"/>
                <a:cs typeface="Arial"/>
              </a:rPr>
              <a:t>PAP_PROFILE=macmini-replay make run</a:t>
            </a:r>
          </a:p>
          <a:p xmlns:a="http://schemas.openxmlformats.org/drawingml/2006/main">
            <a:pPr algn="l">
              <a:defRPr sz="1350" b="0">
                <a:solidFill>
                  <a:srgbClr val="82D4E5"/>
                </a:solidFill>
                <a:latin typeface="Arial"/>
                <a:ea typeface="Arial"/>
                <a:cs typeface="Arial"/>
              </a:defRPr>
            </a:pPr>
            <a:r>
              <a:rPr sz="1350" b="0">
                <a:solidFill>
                  <a:srgbClr val="82D4E5"/>
                </a:solidFill>
                <a:latin typeface="Arial"/>
                <a:ea typeface="Arial"/>
                <a:cs typeface="Arial"/>
              </a:rPr>
              <a:t>make verify</a:t>
            </a:r>
          </a:p>
        </p:txBody>
      </p:sp>
      <p:sp>
        <p:nvSpPr>
          <p:cNvPr id="18" name="">
            <a:extLst xmlns:a="http://schemas.openxmlformats.org/drawingml/2006/main">
              <a:ext uri="{FF2B5EF4-FFF2-40B4-BE49-F238E27FC236}">
                <a16:creationId xmlns:a16="http://schemas.microsoft.com/office/drawing/2014/main" id="{63AA28F3-78CA-4917-81B6-3B51F1E4CB74}"/>
              </a:ext>
            </a:extLst>
          </p:cNvPr>
          <p:cNvSpPr>
            <a:spLocks xmlns:a="http://schemas.openxmlformats.org/drawingml/2006/main" noGrp="1"/>
          </p:cNvSpPr>
          <p:nvPr/>
        </p:nvSpPr>
        <p:spPr>
          <a:xfrm xmlns:a="http://schemas.openxmlformats.org/drawingml/2006/main">
            <a:off x="6096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2D4E5"/>
                </a:solidFill>
                <a:latin typeface="Arial"/>
                <a:ea typeface="Arial"/>
                <a:cs typeface="Arial"/>
              </a:defRPr>
            </a:pPr>
            <a:r>
              <a:rPr sz="1350" b="1">
                <a:solidFill>
                  <a:srgbClr val="82D4E5"/>
                </a:solidFill>
                <a:latin typeface="Arial"/>
                <a:ea typeface="Arial"/>
                <a:cs typeface="Arial"/>
              </a:rPr>
              <a:t>What it does</a:t>
            </a:r>
          </a:p>
        </p:txBody>
      </p:sp>
      <p:sp>
        <p:nvSpPr>
          <p:cNvPr id="19" name="">
            <a:extLst xmlns:a="http://schemas.openxmlformats.org/drawingml/2006/main">
              <a:ext uri="{FF2B5EF4-FFF2-40B4-BE49-F238E27FC236}">
                <a16:creationId xmlns:a16="http://schemas.microsoft.com/office/drawing/2014/main" id="{1E8AE810-E4DC-447A-94AA-E953D6B1DCB0}"/>
              </a:ext>
            </a:extLst>
          </p:cNvPr>
          <p:cNvSpPr>
            <a:spLocks xmlns:a="http://schemas.openxmlformats.org/drawingml/2006/main" noGrp="1"/>
          </p:cNvSpPr>
          <p:nvPr/>
        </p:nvSpPr>
        <p:spPr>
          <a:xfrm xmlns:a="http://schemas.openxmlformats.org/drawingml/2006/main">
            <a:off x="6096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A reproducible local MVP with bounded, observable model roles.</a:t>
            </a:r>
          </a:p>
        </p:txBody>
      </p:sp>
      <p:sp>
        <p:nvSpPr>
          <p:cNvPr id="20" name="">
            <a:extLst xmlns:a="http://schemas.openxmlformats.org/drawingml/2006/main">
              <a:ext uri="{FF2B5EF4-FFF2-40B4-BE49-F238E27FC236}">
                <a16:creationId xmlns:a16="http://schemas.microsoft.com/office/drawing/2014/main" id="{41109C1E-54F9-4913-ABEF-3A8E788DFFB6}"/>
              </a:ext>
            </a:extLst>
          </p:cNvPr>
          <p:cNvSpPr>
            <a:spLocks xmlns:a="http://schemas.openxmlformats.org/drawingml/2006/main" noGrp="1"/>
          </p:cNvSpPr>
          <p:nvPr/>
        </p:nvSpPr>
        <p:spPr>
          <a:xfrm xmlns:a="http://schemas.openxmlformats.org/drawingml/2006/main">
            <a:off x="6477000" y="53625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8B362"/>
                </a:solidFill>
                <a:latin typeface="Arial"/>
                <a:ea typeface="Arial"/>
                <a:cs typeface="Arial"/>
              </a:defRPr>
            </a:pPr>
            <a:r>
              <a:rPr sz="1350" b="1">
                <a:solidFill>
                  <a:srgbClr val="E8B362"/>
                </a:solidFill>
                <a:latin typeface="Arial"/>
                <a:ea typeface="Arial"/>
                <a:cs typeface="Arial"/>
              </a:rPr>
              <a:t>Why it matters</a:t>
            </a:r>
          </a:p>
        </p:txBody>
      </p:sp>
      <p:sp>
        <p:nvSpPr>
          <p:cNvPr id="21" name="">
            <a:extLst xmlns:a="http://schemas.openxmlformats.org/drawingml/2006/main">
              <a:ext uri="{FF2B5EF4-FFF2-40B4-BE49-F238E27FC236}">
                <a16:creationId xmlns:a16="http://schemas.microsoft.com/office/drawing/2014/main" id="{95A2F923-B97D-4498-92EA-E2770DE8D23D}"/>
              </a:ext>
            </a:extLst>
          </p:cNvPr>
          <p:cNvSpPr>
            <a:spLocks xmlns:a="http://schemas.openxmlformats.org/drawingml/2006/main" noGrp="1"/>
          </p:cNvSpPr>
          <p:nvPr/>
        </p:nvSpPr>
        <p:spPr>
          <a:xfrm xmlns:a="http://schemas.openxmlformats.org/drawingml/2006/main">
            <a:off x="6477000" y="5667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2F7FA"/>
                </a:solidFill>
                <a:latin typeface="Arial"/>
                <a:ea typeface="Arial"/>
                <a:cs typeface="Arial"/>
              </a:defRPr>
            </a:pPr>
            <a:r>
              <a:rPr sz="1800" b="0">
                <a:solidFill>
                  <a:srgbClr val="F2F7FA"/>
                </a:solidFill>
                <a:latin typeface="Arial"/>
                <a:ea typeface="Arial"/>
                <a:cs typeface="Arial"/>
              </a:rPr>
              <a:t>The next improvements can be measured against an inspectable baseline.</a:t>
            </a:r>
          </a:p>
        </p:txBody>
      </p:sp>
    </p:spTree>
    <p:extLst>
      <p:ext uri="{BB962C8B-B14F-4D97-AF65-F5344CB8AC3E}">
        <p14:creationId xmlns:p14="http://schemas.microsoft.com/office/powerpoint/2010/main" val="1103763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2026-09-07T22:08:58.3370000Z</dcterms:created>
  <dcterms:modified xsi:type="dcterms:W3CDTF">2026-09-07T22:08:58.3370000Z</dcterms:modified>
</coreProperties>
</file>