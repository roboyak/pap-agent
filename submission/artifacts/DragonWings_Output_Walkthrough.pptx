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351d665dd74672" /><Relationship Type="http://schemas.openxmlformats.org/officeDocument/2006/relationships/extended-properties" Target="/docProps/app.xml" Id="R012baf9dfa704823" /><Relationship Type="http://schemas.openxmlformats.org/officeDocument/2006/relationships/officeDocument" Target="/ppt/presentation.xml" Id="Rbc5f818769f64808" /></Relationships>
</file>

<file path=ppt/presentation.xml><?xml version="1.0" encoding="utf-8"?>
<p:presentation xmlns:p="http://schemas.openxmlformats.org/presentationml/2006/main">
  <p:sldMasterIdLst>
    <p:sldMasterId xmlns:r="http://schemas.openxmlformats.org/officeDocument/2006/relationships" id="2147483648" r:id="R53b2d62036874e1f"/>
  </p:sldMasterIdLst>
  <p:notesMasterIdLst>
    <p:notesMasterId xmlns:r="http://schemas.openxmlformats.org/officeDocument/2006/relationships" r:id="R1f2c442284754909"/>
  </p:notesMasterIdLst>
  <p:sldIdLst>
    <p:sldId xmlns:r="http://schemas.openxmlformats.org/officeDocument/2006/relationships" id="256" r:id="Raab218791de04f28"/>
    <p:sldId xmlns:r="http://schemas.openxmlformats.org/officeDocument/2006/relationships" id="257" r:id="R0722431029844f20"/>
    <p:sldId xmlns:r="http://schemas.openxmlformats.org/officeDocument/2006/relationships" id="258" r:id="Rb9562865375c4b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e6956e858541a9" /><Relationship Type="http://schemas.openxmlformats.org/officeDocument/2006/relationships/slideMaster" Target="/ppt/slideMasters/slideMaster1.xml" Id="R53b2d62036874e1f" /><Relationship Type="http://schemas.openxmlformats.org/officeDocument/2006/relationships/notesMaster" Target="/ppt/notesMasters/notesMaster1.xml" Id="R1f2c442284754909" /><Relationship Type="http://schemas.openxmlformats.org/officeDocument/2006/relationships/presProps" Target="/ppt/presProps.xml" Id="R5e008d3f28a9451f" /><Relationship Type="http://schemas.openxmlformats.org/officeDocument/2006/relationships/tableStyles" Target="/ppt/tableStyles.xml" Id="Redfff5c674e1494d" /><Relationship Type="http://schemas.openxmlformats.org/officeDocument/2006/relationships/slide" Target="/ppt/slides/slide1.xml" Id="Raab218791de04f28" /><Relationship Type="http://schemas.openxmlformats.org/officeDocument/2006/relationships/slide" Target="/ppt/slides/slide2.xml" Id="R0722431029844f20" /><Relationship Type="http://schemas.openxmlformats.org/officeDocument/2006/relationships/slide" Target="/ppt/slides/slide3.xml" Id="Rb9562865375c4b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f5180cc02c42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930bf5a7b04c7c" /><Relationship Type="http://schemas.openxmlformats.org/officeDocument/2006/relationships/notesMaster" Target="/ppt/notesMasters/notesMaster1.xml" Id="Rb05725f8154b48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446fbcbb064cdd" /><Relationship Type="http://schemas.openxmlformats.org/officeDocument/2006/relationships/notesMaster" Target="/ppt/notesMasters/notesMaster1.xml" Id="R605ee5a19db9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e24ca75530493d" /><Relationship Type="http://schemas.openxmlformats.org/officeDocument/2006/relationships/notesMaster" Target="/ppt/notesMasters/notesMaster1.xml" Id="R71ef8979bfda40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completed Forecast page. The first interval allocates 0.622 kW beyond existing load. Across twelve one-hour intervals the model allocates 2.222 kWh. Confidence is low. These are saved evaluation results, not hardware commands. The separate Inspector opens the same episode.</a:t>
            </a:r>
          </a:p>
          <a:p xmlns:a="http://schemas.openxmlformats.org/drawingml/2006/main">
            <a:r>
              <a:t/>
            </a:r>
          </a:p>
          <a:p xmlns:a="http://schemas.openxmlformats.org/drawingml/2006/main">
            <a:r>
              <a:t>Evidence: submission/examples/output/output-example.json. Episode 976a617d-799f-464d-ae8f-224643488af2. Captured 2026-09-07T23:49:25.054648+00:00. Source scrape 2026-09-07T23:46:08.528303Z. Real MySolArk telemetry with synthetic weather. UI screenshot from the same episode. Repository: https://github.com/roboyak/PAP-Agent (owner controls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bars are the exact published available_kw values. Each covers one hour. The kWh total is the sum of energy_kwh from those intervals. Zero means no extra solar allocation. The total does not describe a continuous load or energy available all at once. This is a synthetic-weather persistence baseline; the taper is not a validated overnight solar forecast.</a:t>
            </a:r>
          </a:p>
          <a:p xmlns:a="http://schemas.openxmlformats.org/drawingml/2006/main">
            <a:r>
              <a:t/>
            </a:r>
          </a:p>
          <a:p xmlns:a="http://schemas.openxmlformats.org/drawingml/2006/main">
            <a:r>
              <a:t>Evidence: submission/examples/output/output-example.json. Episode 976a617d-799f-464d-ae8f-224643488af2. Captured 2026-09-07T23:49:25.054648+00:00. Source scrape 2026-09-07T23:46:08.528303Z. Real MySolArk telemetry with synthetic weather. UI screenshot from the same episode. Repository: https://github.com/roboyak/PAP-Agent (owner controls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model guidance verbatim. The publication's status means deterministic checks passed. Confidence is qualitative. Real solar and load readings are used with synthetic weather, constant demand and zero battery discharge. Inspect this run opens the matching episode. Trace gives workflow order; Context, Memory, Tools, Subagent and Health explain its evidence, model activity and current dependencies. The operator retains control.</a:t>
            </a:r>
          </a:p>
          <a:p xmlns:a="http://schemas.openxmlformats.org/drawingml/2006/main">
            <a:r>
              <a:t/>
            </a:r>
          </a:p>
          <a:p xmlns:a="http://schemas.openxmlformats.org/drawingml/2006/main">
            <a:r>
              <a:t>Evidence: submission/examples/output/output-example.json. Episode 976a617d-799f-464d-ae8f-224643488af2. Captured 2026-09-07T23:49:25.054648+00:00. Source scrape 2026-09-07T23:46:08.528303Z. Real MySolArk telemetry with synthetic weather. UI screenshot from the same episode. Repository: https://github.com/roboyak/PAP-Agent (owner controls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a3b3fe9c2147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5c2be1ff1a4d09" /><Relationship Type="http://schemas.openxmlformats.org/officeDocument/2006/relationships/slideLayout" Target="/ppt/slideLayouts/slideLayout1.xml" Id="Rc23daa5f7c9640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3daa5f7c9640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d2e57864cc45dd" /><Relationship Type="http://schemas.openxmlformats.org/officeDocument/2006/relationships/image" Target="/ppt/media/image.png" Id="R6881b85589114f25" /><Relationship Type="http://schemas.openxmlformats.org/officeDocument/2006/relationships/notesSlide" Target="/ppt/notesSlides/notesSlide1.xml" Id="R4e0e5fbbf97549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7191f137b44839" /><Relationship Type="http://schemas.openxmlformats.org/officeDocument/2006/relationships/chart" Target="/ppt/slides/charts/chart1.xml" Id="R8f1dee4a1eec4be8" /><Relationship Type="http://schemas.openxmlformats.org/officeDocument/2006/relationships/notesSlide" Target="/ppt/notesSlides/notesSlide2.xml" Id="R77de10262f4947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eec2075c22482b" /><Relationship Type="http://schemas.openxmlformats.org/officeDocument/2006/relationships/notesSlide" Target="/ppt/notesSlides/notesSlide3.xml" Id="Rf3b62b72813246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Additional power (kW)</c:v>
          </c:tx>
          <c:spPr>
            <a:solidFill xmlns:a="http://schemas.openxmlformats.org/drawingml/2006/main">
              <a:srgbClr val="82D4E5"/>
            </a:solidFill>
          </c:spPr>
          <c:cat>
            <c:strRef>
              <c:f>'Chart Data'!$A$2:$A$13</c:f>
              <c:strCache>
                <c:ptCount val="12"/>
                <c:pt idx="0">
                  <c:v>23:46</c:v>
                </c:pt>
                <c:pt idx="1">
                  <c:v>00:46</c:v>
                </c:pt>
                <c:pt idx="2">
                  <c:v>01:46</c:v>
                </c:pt>
                <c:pt idx="3">
                  <c:v>02:46</c:v>
                </c:pt>
                <c:pt idx="4">
                  <c:v>03:46</c:v>
                </c:pt>
                <c:pt idx="5">
                  <c:v>04:46</c:v>
                </c:pt>
                <c:pt idx="6">
                  <c:v>05:46</c:v>
                </c:pt>
                <c:pt idx="7">
                  <c:v>06:46</c:v>
                </c:pt>
                <c:pt idx="8">
                  <c:v>07:46</c:v>
                </c:pt>
                <c:pt idx="9">
                  <c:v>08:46</c:v>
                </c:pt>
                <c:pt idx="10">
                  <c:v>09:46</c:v>
                </c:pt>
                <c:pt idx="11">
                  <c:v>10:46</c:v>
                </c:pt>
              </c:strCache>
            </c:strRef>
          </c:cat>
          <c:val>
            <c:numRef>
              <c:f>'Chart Data'!$B$2:$B$13</c:f>
              <c:numCache>
                <c:formatCode>0.000</c:formatCode>
                <c:ptCount val="12"/>
                <c:pt idx="0">
                  <c:v>0.622</c:v>
                </c:pt>
                <c:pt idx="1">
                  <c:v>0.622</c:v>
                </c:pt>
                <c:pt idx="2">
                  <c:v>0.474</c:v>
                </c:pt>
                <c:pt idx="3">
                  <c:v>0.326</c:v>
                </c:pt>
                <c:pt idx="4">
                  <c:v>0.178</c:v>
                </c:pt>
                <c:pt idx="5">
                  <c:v>0</c:v>
                </c:pt>
                <c:pt idx="6">
                  <c:v>0</c:v>
                </c:pt>
                <c:pt idx="7">
                  <c:v>0</c:v>
                </c:pt>
                <c:pt idx="8">
                  <c:v>0</c:v>
                </c:pt>
                <c:pt idx="9">
                  <c:v>0</c:v>
                </c:pt>
                <c:pt idx="10">
                  <c:v>0</c:v>
                </c:pt>
                <c:pt idx="11">
                  <c:v>0</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2F7FA"/>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36374"/>
            </a:solidFill>
          </a:ln>
        </c:spPr>
        <c:txPr>
          <a:bodyPr xmlns:a="http://schemas.openxmlformats.org/drawingml/2006/main" anchorCtr="1"/>
          <a:lstStyle xmlns:a="http://schemas.openxmlformats.org/drawingml/2006/main"/>
          <a:p xmlns:a="http://schemas.openxmlformats.org/drawingml/2006/main">
            <a:pPr>
              <a:defRPr sz="1275">
                <a:solidFill>
                  <a:srgbClr val="B4C9D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436374"/>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B4C9D5"/>
                </a:solidFill>
                <a:latin typeface="Arial"/>
                <a:ea typeface="Arial"/>
                <a:cs typeface="Arial"/>
              </a:defRPr>
            </a:pPr>
          </a:p>
        </c:txPr>
        <c:crossAx val="48650112"/>
        <c:crossBetween val="between"/>
      </c:valAx>
      <c:spPr>
        <a:solidFill xmlns:a="http://schemas.openxmlformats.org/drawingml/2006/main">
          <a:srgbClr val="0B1823"/>
        </a:solidFill>
        <a:ln xmlns:a="http://schemas.openxmlformats.org/drawingml/2006/main" w="0">
          <a:noFill/>
        </a:ln>
      </c:spPr>
    </c:plotArea>
    <c:plotVisOnly val="1"/>
  </c:chart>
  <c:spPr>
    <a:solidFill xmlns:a="http://schemas.openxmlformats.org/drawingml/2006/main">
      <a:srgbClr val="0B182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FA39E3-A3FE-4B4A-B443-C2C5D1383E45}"/>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82D4E5"/>
                </a:solidFill>
                <a:latin typeface="Arial"/>
                <a:ea typeface="Arial"/>
                <a:cs typeface="Arial"/>
              </a:defRPr>
            </a:pPr>
            <a:r>
              <a:rPr sz="1275" b="0">
                <a:solidFill>
                  <a:srgbClr val="82D4E5"/>
                </a:solidFill>
                <a:latin typeface="Arial"/>
                <a:ea typeface="Arial"/>
                <a:cs typeface="Arial"/>
              </a:rPr>
              <a:t>DragonWings PAP / output walkthrough</a:t>
            </a:r>
          </a:p>
        </p:txBody>
      </p:sp>
      <p:sp>
        <p:nvSpPr>
          <p:cNvPr id="2" name="">
            <a:extLst xmlns:a="http://schemas.openxmlformats.org/drawingml/2006/main">
              <a:ext uri="{FF2B5EF4-FFF2-40B4-BE49-F238E27FC236}">
                <a16:creationId xmlns:a16="http://schemas.microsoft.com/office/drawing/2014/main" id="{4B1A1E90-5348-455E-B62B-091BC145BF2B}"/>
              </a:ext>
            </a:extLst>
          </p:cNvPr>
          <p:cNvSpPr>
            <a:spLocks xmlns:a="http://schemas.openxmlformats.org/drawingml/2006/main" noGrp="1"/>
          </p:cNvSpPr>
          <p:nvPr/>
        </p:nvSpPr>
        <p:spPr>
          <a:xfrm xmlns:a="http://schemas.openxmlformats.org/drawingml/2006/main">
            <a:off x="609600" y="7429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2F7FA"/>
                </a:solidFill>
                <a:latin typeface="Arial"/>
                <a:ea typeface="Arial"/>
                <a:cs typeface="Arial"/>
              </a:defRPr>
            </a:pPr>
            <a:r>
              <a:rPr sz="3225" b="1">
                <a:solidFill>
                  <a:srgbClr val="F2F7FA"/>
                </a:solidFill>
                <a:latin typeface="Arial"/>
                <a:ea typeface="Arial"/>
                <a:cs typeface="Arial"/>
              </a:rPr>
              <a:t>The output an operator sees</a:t>
            </a:r>
          </a:p>
        </p:txBody>
      </p:sp>
      <p:sp>
        <p:nvSpPr>
          <p:cNvPr id="3" name="">
            <a:extLst xmlns:a="http://schemas.openxmlformats.org/drawingml/2006/main">
              <a:ext uri="{FF2B5EF4-FFF2-40B4-BE49-F238E27FC236}">
                <a16:creationId xmlns:a16="http://schemas.microsoft.com/office/drawing/2014/main" id="{DA7549F8-C0D3-4656-881A-BE81F526192D}"/>
              </a:ext>
            </a:extLst>
          </p:cNvPr>
          <p:cNvSpPr>
            <a:spLocks xmlns:a="http://schemas.openxmlformats.org/drawingml/2006/main" noGrp="1"/>
          </p:cNvSpPr>
          <p:nvPr/>
        </p:nvSpPr>
        <p:spPr>
          <a:xfrm xmlns:a="http://schemas.openxmlformats.org/drawingml/2006/main">
            <a:off x="10953750" y="6515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4C9D5"/>
                </a:solidFill>
                <a:latin typeface="Arial"/>
                <a:ea typeface="Arial"/>
                <a:cs typeface="Arial"/>
              </a:defRPr>
            </a:pPr>
            <a:r>
              <a:rPr sz="1125" b="0">
                <a:solidFill>
                  <a:srgbClr val="B4C9D5"/>
                </a:solidFill>
                <a:latin typeface="Arial"/>
                <a:ea typeface="Arial"/>
                <a:cs typeface="Arial"/>
              </a:rPr>
              <a:t>1 / 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881b85589114f25"/>
          <a:stretch xmlns:a="http://schemas.openxmlformats.org/drawingml/2006/main"/>
        </p:blipFill>
        <p:spPr>
          <a:xfrm xmlns:a="http://schemas.openxmlformats.org/drawingml/2006/main">
            <a:off x="1777536" y="1666875"/>
            <a:ext cx="4903127" cy="3952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EBDCD6D-C555-48B9-A527-08906D4F75D3}"/>
              </a:ext>
            </a:extLst>
          </p:cNvPr>
          <p:cNvSpPr>
            <a:spLocks xmlns:a="http://schemas.openxmlformats.org/drawingml/2006/main" noGrp="1"/>
          </p:cNvSpPr>
          <p:nvPr/>
        </p:nvSpPr>
        <p:spPr>
          <a:xfrm xmlns:a="http://schemas.openxmlformats.org/drawingml/2006/main">
            <a:off x="8277225" y="1743075"/>
            <a:ext cx="3305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82D4E5"/>
                </a:solidFill>
                <a:latin typeface="Arial"/>
                <a:ea typeface="Arial"/>
                <a:cs typeface="Arial"/>
              </a:defRPr>
            </a:pPr>
            <a:r>
              <a:rPr sz="4200" b="1">
                <a:solidFill>
                  <a:srgbClr val="82D4E5"/>
                </a:solidFill>
                <a:latin typeface="Arial"/>
                <a:ea typeface="Arial"/>
                <a:cs typeface="Arial"/>
              </a:rPr>
              <a:t>0.622 kW</a:t>
            </a:r>
          </a:p>
        </p:txBody>
      </p:sp>
      <p:sp>
        <p:nvSpPr>
          <p:cNvPr id="6" name="">
            <a:extLst xmlns:a="http://schemas.openxmlformats.org/drawingml/2006/main">
              <a:ext uri="{FF2B5EF4-FFF2-40B4-BE49-F238E27FC236}">
                <a16:creationId xmlns:a16="http://schemas.microsoft.com/office/drawing/2014/main" id="{D7A23BEF-A503-4F02-AAEC-59152FBA0CAA}"/>
              </a:ext>
            </a:extLst>
          </p:cNvPr>
          <p:cNvSpPr>
            <a:spLocks xmlns:a="http://schemas.openxmlformats.org/drawingml/2006/main" noGrp="1"/>
          </p:cNvSpPr>
          <p:nvPr/>
        </p:nvSpPr>
        <p:spPr>
          <a:xfrm xmlns:a="http://schemas.openxmlformats.org/drawingml/2006/main">
            <a:off x="8277225" y="2524125"/>
            <a:ext cx="3305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Additional power in the first hour</a:t>
            </a:r>
          </a:p>
        </p:txBody>
      </p:sp>
      <p:sp>
        <p:nvSpPr>
          <p:cNvPr id="7" name="">
            <a:extLst xmlns:a="http://schemas.openxmlformats.org/drawingml/2006/main">
              <a:ext uri="{FF2B5EF4-FFF2-40B4-BE49-F238E27FC236}">
                <a16:creationId xmlns:a16="http://schemas.microsoft.com/office/drawing/2014/main" id="{8B1DF0C2-9125-4F29-8276-8CB66F1FE6E9}"/>
              </a:ext>
            </a:extLst>
          </p:cNvPr>
          <p:cNvSpPr>
            <a:spLocks xmlns:a="http://schemas.openxmlformats.org/drawingml/2006/main" noGrp="1"/>
          </p:cNvSpPr>
          <p:nvPr/>
        </p:nvSpPr>
        <p:spPr>
          <a:xfrm xmlns:a="http://schemas.openxmlformats.org/drawingml/2006/main">
            <a:off x="8277225" y="3409950"/>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E8B362"/>
                </a:solidFill>
                <a:latin typeface="Arial"/>
                <a:ea typeface="Arial"/>
                <a:cs typeface="Arial"/>
              </a:defRPr>
            </a:pPr>
            <a:r>
              <a:rPr sz="3375" b="1">
                <a:solidFill>
                  <a:srgbClr val="E8B362"/>
                </a:solidFill>
                <a:latin typeface="Arial"/>
                <a:ea typeface="Arial"/>
                <a:cs typeface="Arial"/>
              </a:rPr>
              <a:t>2.222 kWh</a:t>
            </a:r>
          </a:p>
        </p:txBody>
      </p:sp>
      <p:sp>
        <p:nvSpPr>
          <p:cNvPr id="8" name="">
            <a:extLst xmlns:a="http://schemas.openxmlformats.org/drawingml/2006/main">
              <a:ext uri="{FF2B5EF4-FFF2-40B4-BE49-F238E27FC236}">
                <a16:creationId xmlns:a16="http://schemas.microsoft.com/office/drawing/2014/main" id="{688FDF48-4F54-41D5-9C14-4093E2F07002}"/>
              </a:ext>
            </a:extLst>
          </p:cNvPr>
          <p:cNvSpPr>
            <a:spLocks xmlns:a="http://schemas.openxmlformats.org/drawingml/2006/main" noGrp="1"/>
          </p:cNvSpPr>
          <p:nvPr/>
        </p:nvSpPr>
        <p:spPr>
          <a:xfrm xmlns:a="http://schemas.openxmlformats.org/drawingml/2006/main">
            <a:off x="8277225" y="4114800"/>
            <a:ext cx="33051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Energy across twelve hours</a:t>
            </a:r>
          </a:p>
        </p:txBody>
      </p:sp>
      <p:sp>
        <p:nvSpPr>
          <p:cNvPr id="9" name="">
            <a:extLst xmlns:a="http://schemas.openxmlformats.org/drawingml/2006/main">
              <a:ext uri="{FF2B5EF4-FFF2-40B4-BE49-F238E27FC236}">
                <a16:creationId xmlns:a16="http://schemas.microsoft.com/office/drawing/2014/main" id="{587A28AE-9672-4224-9B04-0B4476AB2602}"/>
              </a:ext>
            </a:extLst>
          </p:cNvPr>
          <p:cNvSpPr>
            <a:spLocks xmlns:a="http://schemas.openxmlformats.org/drawingml/2006/main" noGrp="1"/>
          </p:cNvSpPr>
          <p:nvPr/>
        </p:nvSpPr>
        <p:spPr>
          <a:xfrm xmlns:a="http://schemas.openxmlformats.org/drawingml/2006/main">
            <a:off x="8277225" y="5029200"/>
            <a:ext cx="3305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4C9D5"/>
                </a:solidFill>
                <a:latin typeface="Arial"/>
                <a:ea typeface="Arial"/>
                <a:cs typeface="Arial"/>
              </a:defRPr>
            </a:pPr>
            <a:r>
              <a:rPr sz="2175" b="0">
                <a:solidFill>
                  <a:srgbClr val="B4C9D5"/>
                </a:solidFill>
                <a:latin typeface="Arial"/>
                <a:ea typeface="Arial"/>
                <a:cs typeface="Arial"/>
              </a:rPr>
              <a:t>Low confidence</a:t>
            </a:r>
          </a:p>
        </p:txBody>
      </p:sp>
      <p:sp>
        <p:nvSpPr>
          <p:cNvPr id="10" name="">
            <a:extLst xmlns:a="http://schemas.openxmlformats.org/drawingml/2006/main">
              <a:ext uri="{FF2B5EF4-FFF2-40B4-BE49-F238E27FC236}">
                <a16:creationId xmlns:a16="http://schemas.microsoft.com/office/drawing/2014/main" id="{A8F9AB1D-CEB0-48D2-A9DB-76AA2AA248AD}"/>
              </a:ext>
            </a:extLst>
          </p:cNvPr>
          <p:cNvSpPr>
            <a:spLocks xmlns:a="http://schemas.openxmlformats.org/drawingml/2006/main" noGrp="1"/>
          </p:cNvSpPr>
          <p:nvPr/>
        </p:nvSpPr>
        <p:spPr>
          <a:xfrm xmlns:a="http://schemas.openxmlformats.org/drawingml/2006/main">
            <a:off x="609600" y="58578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1" name="">
            <a:extLst xmlns:a="http://schemas.openxmlformats.org/drawingml/2006/main">
              <a:ext uri="{FF2B5EF4-FFF2-40B4-BE49-F238E27FC236}">
                <a16:creationId xmlns:a16="http://schemas.microsoft.com/office/drawing/2014/main" id="{56374AE9-1865-4D1A-A636-F8FBE0298413}"/>
              </a:ext>
            </a:extLst>
          </p:cNvPr>
          <p:cNvSpPr>
            <a:spLocks xmlns:a="http://schemas.openxmlformats.org/drawingml/2006/main" noGrp="1"/>
          </p:cNvSpPr>
          <p:nvPr/>
        </p:nvSpPr>
        <p:spPr>
          <a:xfrm xmlns:a="http://schemas.openxmlformats.org/drawingml/2006/main">
            <a:off x="609600" y="618172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2F7FA"/>
                </a:solidFill>
                <a:latin typeface="Arial"/>
                <a:ea typeface="Arial"/>
                <a:cs typeface="Arial"/>
              </a:defRPr>
            </a:pPr>
            <a:r>
              <a:rPr sz="1800" b="0">
                <a:solidFill>
                  <a:srgbClr val="F2F7FA"/>
                </a:solidFill>
                <a:latin typeface="Arial"/>
                <a:ea typeface="Arial"/>
                <a:cs typeface="Arial"/>
              </a:rPr>
              <a:t>Turns source readings into an hourly power profile.</a:t>
            </a:r>
          </a:p>
        </p:txBody>
      </p:sp>
      <p:sp>
        <p:nvSpPr>
          <p:cNvPr id="12" name="">
            <a:extLst xmlns:a="http://schemas.openxmlformats.org/drawingml/2006/main">
              <a:ext uri="{FF2B5EF4-FFF2-40B4-BE49-F238E27FC236}">
                <a16:creationId xmlns:a16="http://schemas.microsoft.com/office/drawing/2014/main" id="{752AE0A2-386E-4699-93CC-797324B935D1}"/>
              </a:ext>
            </a:extLst>
          </p:cNvPr>
          <p:cNvSpPr>
            <a:spLocks xmlns:a="http://schemas.openxmlformats.org/drawingml/2006/main" noGrp="1"/>
          </p:cNvSpPr>
          <p:nvPr/>
        </p:nvSpPr>
        <p:spPr>
          <a:xfrm xmlns:a="http://schemas.openxmlformats.org/drawingml/2006/main">
            <a:off x="7667625" y="58578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3" name="">
            <a:extLst xmlns:a="http://schemas.openxmlformats.org/drawingml/2006/main">
              <a:ext uri="{FF2B5EF4-FFF2-40B4-BE49-F238E27FC236}">
                <a16:creationId xmlns:a16="http://schemas.microsoft.com/office/drawing/2014/main" id="{FCF3C175-3D95-40F2-8459-759AF0D3AB00}"/>
              </a:ext>
            </a:extLst>
          </p:cNvPr>
          <p:cNvSpPr>
            <a:spLocks xmlns:a="http://schemas.openxmlformats.org/drawingml/2006/main" noGrp="1"/>
          </p:cNvSpPr>
          <p:nvPr/>
        </p:nvSpPr>
        <p:spPr>
          <a:xfrm xmlns:a="http://schemas.openxmlformats.org/drawingml/2006/main">
            <a:off x="7667625" y="618172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2F7FA"/>
                </a:solidFill>
                <a:latin typeface="Arial"/>
                <a:ea typeface="Arial"/>
                <a:cs typeface="Arial"/>
              </a:defRPr>
            </a:pPr>
            <a:r>
              <a:rPr sz="1800" b="0">
                <a:solidFill>
                  <a:srgbClr val="F2F7FA"/>
                </a:solidFill>
                <a:latin typeface="Arial"/>
                <a:ea typeface="Arial"/>
                <a:cs typeface="Arial"/>
              </a:rPr>
              <a:t>Makes the result easy to review.</a:t>
            </a:r>
          </a:p>
        </p:txBody>
      </p:sp>
    </p:spTree>
    <p:extLst>
      <p:ext uri="{BB962C8B-B14F-4D97-AF65-F5344CB8AC3E}">
        <p14:creationId xmlns:p14="http://schemas.microsoft.com/office/powerpoint/2010/main" val="1313362725"/>
      </p:ext>
    </p:extLst>
  </p:cSld>
</p:sld>
</file>

<file path=ppt/slides/slide2.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09094F-3D53-4159-9276-F45806BD7F68}"/>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82D4E5"/>
                </a:solidFill>
                <a:latin typeface="Arial"/>
                <a:ea typeface="Arial"/>
                <a:cs typeface="Arial"/>
              </a:defRPr>
            </a:pPr>
            <a:r>
              <a:rPr sz="1275" b="0">
                <a:solidFill>
                  <a:srgbClr val="82D4E5"/>
                </a:solidFill>
                <a:latin typeface="Arial"/>
                <a:ea typeface="Arial"/>
                <a:cs typeface="Arial"/>
              </a:rPr>
              <a:t>DragonWings PAP / output walkthrough</a:t>
            </a:r>
          </a:p>
        </p:txBody>
      </p:sp>
      <p:sp>
        <p:nvSpPr>
          <p:cNvPr id="2" name="">
            <a:extLst xmlns:a="http://schemas.openxmlformats.org/drawingml/2006/main">
              <a:ext uri="{FF2B5EF4-FFF2-40B4-BE49-F238E27FC236}">
                <a16:creationId xmlns:a16="http://schemas.microsoft.com/office/drawing/2014/main" id="{D92637B2-2AA1-4EAF-9544-32F41D7E8522}"/>
              </a:ext>
            </a:extLst>
          </p:cNvPr>
          <p:cNvSpPr>
            <a:spLocks xmlns:a="http://schemas.openxmlformats.org/drawingml/2006/main" noGrp="1"/>
          </p:cNvSpPr>
          <p:nvPr/>
        </p:nvSpPr>
        <p:spPr>
          <a:xfrm xmlns:a="http://schemas.openxmlformats.org/drawingml/2006/main">
            <a:off x="609600" y="7429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2F7FA"/>
                </a:solidFill>
                <a:latin typeface="Arial"/>
                <a:ea typeface="Arial"/>
                <a:cs typeface="Arial"/>
              </a:defRPr>
            </a:pPr>
            <a:r>
              <a:rPr sz="3225" b="1">
                <a:solidFill>
                  <a:srgbClr val="F2F7FA"/>
                </a:solidFill>
                <a:latin typeface="Arial"/>
                <a:ea typeface="Arial"/>
                <a:cs typeface="Arial"/>
              </a:rPr>
              <a:t>How to read the twelve-hour profile</a:t>
            </a:r>
          </a:p>
        </p:txBody>
      </p:sp>
      <p:sp>
        <p:nvSpPr>
          <p:cNvPr id="3" name="">
            <a:extLst xmlns:a="http://schemas.openxmlformats.org/drawingml/2006/main">
              <a:ext uri="{FF2B5EF4-FFF2-40B4-BE49-F238E27FC236}">
                <a16:creationId xmlns:a16="http://schemas.microsoft.com/office/drawing/2014/main" id="{A87F6121-8011-43BE-B17B-A1BD65243FB5}"/>
              </a:ext>
            </a:extLst>
          </p:cNvPr>
          <p:cNvSpPr>
            <a:spLocks xmlns:a="http://schemas.openxmlformats.org/drawingml/2006/main" noGrp="1"/>
          </p:cNvSpPr>
          <p:nvPr/>
        </p:nvSpPr>
        <p:spPr>
          <a:xfrm xmlns:a="http://schemas.openxmlformats.org/drawingml/2006/main">
            <a:off x="10953750" y="6515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4C9D5"/>
                </a:solidFill>
                <a:latin typeface="Arial"/>
                <a:ea typeface="Arial"/>
                <a:cs typeface="Arial"/>
              </a:defRPr>
            </a:pPr>
            <a:r>
              <a:rPr sz="1125" b="0">
                <a:solidFill>
                  <a:srgbClr val="B4C9D5"/>
                </a:solidFill>
                <a:latin typeface="Arial"/>
                <a:ea typeface="Arial"/>
                <a:cs typeface="Arial"/>
              </a:rPr>
              <a:t>2 / 3</a:t>
            </a:r>
          </a:p>
        </p:txBody>
      </p:sp>
      <p:sp>
        <p:nvSpPr>
          <p:cNvPr id="4" name="">
            <a:extLst xmlns:a="http://schemas.openxmlformats.org/drawingml/2006/main">
              <a:ext uri="{FF2B5EF4-FFF2-40B4-BE49-F238E27FC236}">
                <a16:creationId xmlns:a16="http://schemas.microsoft.com/office/drawing/2014/main" id="{966A6B89-FE71-4BF3-9087-807E5F7E05C0}"/>
              </a:ext>
            </a:extLst>
          </p:cNvPr>
          <p:cNvSpPr>
            <a:spLocks xmlns:a="http://schemas.openxmlformats.org/drawingml/2006/main" noGrp="1"/>
          </p:cNvSpPr>
          <p:nvPr/>
        </p:nvSpPr>
        <p:spPr>
          <a:xfrm xmlns:a="http://schemas.openxmlformats.org/drawingml/2006/main">
            <a:off x="609600" y="16668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82D4E5"/>
                </a:solidFill>
                <a:latin typeface="Arial"/>
                <a:ea typeface="Arial"/>
                <a:cs typeface="Arial"/>
              </a:defRPr>
            </a:pPr>
            <a:r>
              <a:rPr sz="1725" b="0">
                <a:solidFill>
                  <a:srgbClr val="82D4E5"/>
                </a:solidFill>
                <a:latin typeface="Arial"/>
                <a:ea typeface="Arial"/>
                <a:cs typeface="Arial"/>
              </a:rPr>
              <a:t>Additional power (kW)</a:t>
            </a:r>
          </a:p>
        </p:txBody>
      </p:sp>
      <p:graphicFrame>
        <p:nvGraphicFramePr>
          <p:cNvPr id="13" name="Chart"/>
          <p:cNvGraphicFramePr/>
          <p:nvPr/>
        </p:nvGraphicFramePr>
        <p:xfrm>
          <a:off xmlns:a="http://schemas.openxmlformats.org/drawingml/2006/main" x="609600" y="2047875"/>
          <a:ext xmlns:a="http://schemas.openxmlformats.org/drawingml/2006/main" cx="10972800" cy="3114675"/>
        </p:xfrm>
        <a:graphic xmlns:a="http://schemas.openxmlformats.org/drawingml/2006/main">
          <a:graphicData uri="http://schemas.openxmlformats.org/drawingml/2006/chart">
            <c:chart xmlns:r="http://schemas.openxmlformats.org/officeDocument/2006/relationships" xmlns:c="http://schemas.openxmlformats.org/drawingml/2006/chart" r:id="R8f1dee4a1eec4be8"/>
          </a:graphicData>
        </a:graphic>
      </p:graphicFrame>
      <p:sp>
        <p:nvSpPr>
          <p:cNvPr id="6" name="">
            <a:extLst xmlns:a="http://schemas.openxmlformats.org/drawingml/2006/main">
              <a:ext uri="{FF2B5EF4-FFF2-40B4-BE49-F238E27FC236}">
                <a16:creationId xmlns:a16="http://schemas.microsoft.com/office/drawing/2014/main" id="{66A98D2F-CE1C-452D-BDAF-D59E615EB614}"/>
              </a:ext>
            </a:extLst>
          </p:cNvPr>
          <p:cNvSpPr>
            <a:spLocks xmlns:a="http://schemas.openxmlformats.org/drawingml/2006/main" noGrp="1"/>
          </p:cNvSpPr>
          <p:nvPr/>
        </p:nvSpPr>
        <p:spPr>
          <a:xfrm xmlns:a="http://schemas.openxmlformats.org/drawingml/2006/main">
            <a:off x="609600" y="5276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4C9D5"/>
                </a:solidFill>
                <a:latin typeface="Arial"/>
                <a:ea typeface="Arial"/>
                <a:cs typeface="Arial"/>
              </a:defRPr>
            </a:pPr>
            <a:r>
              <a:rPr sz="1350" b="0">
                <a:solidFill>
                  <a:srgbClr val="B4C9D5"/>
                </a:solidFill>
                <a:latin typeface="Arial"/>
                <a:ea typeface="Arial"/>
                <a:cs typeface="Arial"/>
              </a:rPr>
              <a:t>2026-09-07 23:46 to 2026-09-08 11:46 UTC</a:t>
            </a:r>
          </a:p>
        </p:txBody>
      </p:sp>
      <p:sp>
        <p:nvSpPr>
          <p:cNvPr id="7" name="">
            <a:extLst xmlns:a="http://schemas.openxmlformats.org/drawingml/2006/main">
              <a:ext uri="{FF2B5EF4-FFF2-40B4-BE49-F238E27FC236}">
                <a16:creationId xmlns:a16="http://schemas.microsoft.com/office/drawing/2014/main" id="{E50BEE90-B5A5-48EB-8572-09400B5CB0A2}"/>
              </a:ext>
            </a:extLst>
          </p:cNvPr>
          <p:cNvSpPr>
            <a:spLocks xmlns:a="http://schemas.openxmlformats.org/drawingml/2006/main" noGrp="1"/>
          </p:cNvSpPr>
          <p:nvPr/>
        </p:nvSpPr>
        <p:spPr>
          <a:xfrm xmlns:a="http://schemas.openxmlformats.org/drawingml/2006/main">
            <a:off x="609600" y="5810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E8B362"/>
                </a:solidFill>
                <a:latin typeface="Arial"/>
                <a:ea typeface="Arial"/>
                <a:cs typeface="Arial"/>
              </a:defRPr>
            </a:pPr>
            <a:r>
              <a:rPr sz="2325" b="1">
                <a:solidFill>
                  <a:srgbClr val="E8B362"/>
                </a:solidFill>
                <a:latin typeface="Arial"/>
                <a:ea typeface="Arial"/>
                <a:cs typeface="Arial"/>
              </a:rPr>
              <a:t>2.222 kWh in total</a:t>
            </a:r>
          </a:p>
        </p:txBody>
      </p:sp>
      <p:sp>
        <p:nvSpPr>
          <p:cNvPr id="8" name="">
            <a:extLst xmlns:a="http://schemas.openxmlformats.org/drawingml/2006/main">
              <a:ext uri="{FF2B5EF4-FFF2-40B4-BE49-F238E27FC236}">
                <a16:creationId xmlns:a16="http://schemas.microsoft.com/office/drawing/2014/main" id="{1BABBDA5-9DB3-49A0-9354-A1723EACE307}"/>
              </a:ext>
            </a:extLst>
          </p:cNvPr>
          <p:cNvSpPr>
            <a:spLocks xmlns:a="http://schemas.openxmlformats.org/drawingml/2006/main" noGrp="1"/>
          </p:cNvSpPr>
          <p:nvPr/>
        </p:nvSpPr>
        <p:spPr>
          <a:xfrm xmlns:a="http://schemas.openxmlformats.org/drawingml/2006/main">
            <a:off x="6000750" y="579120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Zero means no additional solar allocation.</a:t>
            </a:r>
          </a:p>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The total is spread across the forecast.</a:t>
            </a:r>
          </a:p>
        </p:txBody>
      </p:sp>
    </p:spTree>
    <p:extLst>
      <p:ext uri="{BB962C8B-B14F-4D97-AF65-F5344CB8AC3E}">
        <p14:creationId xmlns:p14="http://schemas.microsoft.com/office/powerpoint/2010/main" val="386474850"/>
      </p:ext>
    </p:extLst>
  </p:cSld>
</p:sld>
</file>

<file path=ppt/slides/slide3.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8BA498-FDFC-427D-8778-1BFD5A60B9E4}"/>
              </a:ext>
            </a:extLst>
          </p:cNvPr>
          <p:cNvSpPr>
            <a:spLocks xmlns:a="http://schemas.openxmlformats.org/drawingml/2006/main" noGrp="1"/>
          </p:cNvSpPr>
          <p:nvPr/>
        </p:nvSpPr>
        <p:spPr>
          <a:xfrm xmlns:a="http://schemas.openxmlformats.org/drawingml/2006/main">
            <a:off x="609600" y="304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82D4E5"/>
                </a:solidFill>
                <a:latin typeface="Arial"/>
                <a:ea typeface="Arial"/>
                <a:cs typeface="Arial"/>
              </a:defRPr>
            </a:pPr>
            <a:r>
              <a:rPr sz="1275" b="0">
                <a:solidFill>
                  <a:srgbClr val="82D4E5"/>
                </a:solidFill>
                <a:latin typeface="Arial"/>
                <a:ea typeface="Arial"/>
                <a:cs typeface="Arial"/>
              </a:rPr>
              <a:t>DragonWings PAP / output walkthrough</a:t>
            </a:r>
          </a:p>
        </p:txBody>
      </p:sp>
      <p:sp>
        <p:nvSpPr>
          <p:cNvPr id="2" name="">
            <a:extLst xmlns:a="http://schemas.openxmlformats.org/drawingml/2006/main">
              <a:ext uri="{FF2B5EF4-FFF2-40B4-BE49-F238E27FC236}">
                <a16:creationId xmlns:a16="http://schemas.microsoft.com/office/drawing/2014/main" id="{0F68C5F6-0E8E-40CA-B3ED-02E25C9B5E4B}"/>
              </a:ext>
            </a:extLst>
          </p:cNvPr>
          <p:cNvSpPr>
            <a:spLocks xmlns:a="http://schemas.openxmlformats.org/drawingml/2006/main" noGrp="1"/>
          </p:cNvSpPr>
          <p:nvPr/>
        </p:nvSpPr>
        <p:spPr>
          <a:xfrm xmlns:a="http://schemas.openxmlformats.org/drawingml/2006/main">
            <a:off x="609600" y="7429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2F7FA"/>
                </a:solidFill>
                <a:latin typeface="Arial"/>
                <a:ea typeface="Arial"/>
                <a:cs typeface="Arial"/>
              </a:defRPr>
            </a:pPr>
            <a:r>
              <a:rPr sz="3225" b="1">
                <a:solidFill>
                  <a:srgbClr val="F2F7FA"/>
                </a:solidFill>
                <a:latin typeface="Arial"/>
                <a:ea typeface="Arial"/>
                <a:cs typeface="Arial"/>
              </a:rPr>
              <a:t>Guidance, evidence and human review</a:t>
            </a:r>
          </a:p>
        </p:txBody>
      </p:sp>
      <p:sp>
        <p:nvSpPr>
          <p:cNvPr id="3" name="">
            <a:extLst xmlns:a="http://schemas.openxmlformats.org/drawingml/2006/main">
              <a:ext uri="{FF2B5EF4-FFF2-40B4-BE49-F238E27FC236}">
                <a16:creationId xmlns:a16="http://schemas.microsoft.com/office/drawing/2014/main" id="{92BF6250-DB47-4789-9294-5AB995D9249A}"/>
              </a:ext>
            </a:extLst>
          </p:cNvPr>
          <p:cNvSpPr>
            <a:spLocks xmlns:a="http://schemas.openxmlformats.org/drawingml/2006/main" noGrp="1"/>
          </p:cNvSpPr>
          <p:nvPr/>
        </p:nvSpPr>
        <p:spPr>
          <a:xfrm xmlns:a="http://schemas.openxmlformats.org/drawingml/2006/main">
            <a:off x="10953750" y="6515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4C9D5"/>
                </a:solidFill>
                <a:latin typeface="Arial"/>
                <a:ea typeface="Arial"/>
                <a:cs typeface="Arial"/>
              </a:defRPr>
            </a:pPr>
            <a:r>
              <a:rPr sz="1125" b="0">
                <a:solidFill>
                  <a:srgbClr val="B4C9D5"/>
                </a:solidFill>
                <a:latin typeface="Arial"/>
                <a:ea typeface="Arial"/>
                <a:cs typeface="Arial"/>
              </a:rPr>
              <a:t>3 / 3</a:t>
            </a:r>
          </a:p>
        </p:txBody>
      </p:sp>
      <p:sp>
        <p:nvSpPr>
          <p:cNvPr id="4" name="">
            <a:extLst xmlns:a="http://schemas.openxmlformats.org/drawingml/2006/main">
              <a:ext uri="{FF2B5EF4-FFF2-40B4-BE49-F238E27FC236}">
                <a16:creationId xmlns:a16="http://schemas.microsoft.com/office/drawing/2014/main" id="{434E5FB5-138B-4791-BC02-262C5FD011E5}"/>
              </a:ext>
            </a:extLst>
          </p:cNvPr>
          <p:cNvSpPr>
            <a:spLocks xmlns:a="http://schemas.openxmlformats.org/drawingml/2006/main" noGrp="1"/>
          </p:cNvSpPr>
          <p:nvPr/>
        </p:nvSpPr>
        <p:spPr>
          <a:xfrm xmlns:a="http://schemas.openxmlformats.org/drawingml/2006/main">
            <a:off x="609600" y="16478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4C9D5"/>
                </a:solidFill>
                <a:latin typeface="Arial"/>
                <a:ea typeface="Arial"/>
                <a:cs typeface="Arial"/>
              </a:defRPr>
            </a:pPr>
            <a:r>
              <a:rPr sz="1350" b="0">
                <a:solidFill>
                  <a:srgbClr val="B4C9D5"/>
                </a:solidFill>
                <a:latin typeface="Arial"/>
                <a:ea typeface="Arial"/>
                <a:cs typeface="Arial"/>
              </a:rPr>
              <a:t>Recorded model guidance</a:t>
            </a:r>
          </a:p>
        </p:txBody>
      </p:sp>
      <p:sp>
        <p:nvSpPr>
          <p:cNvPr id="5" name="">
            <a:extLst xmlns:a="http://schemas.openxmlformats.org/drawingml/2006/main">
              <a:ext uri="{FF2B5EF4-FFF2-40B4-BE49-F238E27FC236}">
                <a16:creationId xmlns:a16="http://schemas.microsoft.com/office/drawing/2014/main" id="{6DBF1329-B0CD-49A7-9BC7-B388619E0C99}"/>
              </a:ext>
            </a:extLst>
          </p:cNvPr>
          <p:cNvSpPr>
            <a:spLocks xmlns:a="http://schemas.openxmlformats.org/drawingml/2006/main" noGrp="1"/>
          </p:cNvSpPr>
          <p:nvPr/>
        </p:nvSpPr>
        <p:spPr>
          <a:xfrm xmlns:a="http://schemas.openxmlformats.org/drawingml/2006/main">
            <a:off x="609600" y="20764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82D4E5"/>
                </a:solidFill>
                <a:latin typeface="Arial"/>
                <a:ea typeface="Arial"/>
                <a:cs typeface="Arial"/>
              </a:defRPr>
            </a:pPr>
            <a:r>
              <a:rPr sz="2700" b="1">
                <a:solidFill>
                  <a:srgbClr val="82D4E5"/>
                </a:solidFill>
                <a:latin typeface="Arial"/>
                <a:ea typeface="Arial"/>
                <a:cs typeface="Arial"/>
              </a:rPr>
              <a:t>Clouds reduce solar; re-evaluate before adding load.</a:t>
            </a:r>
          </a:p>
        </p:txBody>
      </p:sp>
      <p:sp>
        <p:nvSpPr>
          <p:cNvPr id="6" name="">
            <a:extLst xmlns:a="http://schemas.openxmlformats.org/drawingml/2006/main">
              <a:ext uri="{FF2B5EF4-FFF2-40B4-BE49-F238E27FC236}">
                <a16:creationId xmlns:a16="http://schemas.microsoft.com/office/drawing/2014/main" id="{37DFA576-20CD-4A02-ABEB-30D3B6D2B128}"/>
              </a:ext>
            </a:extLst>
          </p:cNvPr>
          <p:cNvSpPr>
            <a:spLocks xmlns:a="http://schemas.openxmlformats.org/drawingml/2006/main" noGrp="1"/>
          </p:cNvSpPr>
          <p:nvPr/>
        </p:nvSpPr>
        <p:spPr>
          <a:xfrm xmlns:a="http://schemas.openxmlformats.org/drawingml/2006/main">
            <a:off x="609600" y="31813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F7FA"/>
                </a:solidFill>
                <a:latin typeface="Arial"/>
                <a:ea typeface="Arial"/>
                <a:cs typeface="Arial"/>
              </a:defRPr>
            </a:pPr>
            <a:r>
              <a:rPr sz="2175" b="1">
                <a:solidFill>
                  <a:srgbClr val="F2F7FA"/>
                </a:solidFill>
                <a:latin typeface="Arial"/>
                <a:ea typeface="Arial"/>
                <a:cs typeface="Arial"/>
              </a:rPr>
              <a:t>What supports the result</a:t>
            </a:r>
          </a:p>
        </p:txBody>
      </p:sp>
      <p:sp>
        <p:nvSpPr>
          <p:cNvPr id="7" name="">
            <a:extLst xmlns:a="http://schemas.openxmlformats.org/drawingml/2006/main">
              <a:ext uri="{FF2B5EF4-FFF2-40B4-BE49-F238E27FC236}">
                <a16:creationId xmlns:a16="http://schemas.microsoft.com/office/drawing/2014/main" id="{832069C8-AF30-444C-8A92-6A46BE657295}"/>
              </a:ext>
            </a:extLst>
          </p:cNvPr>
          <p:cNvSpPr>
            <a:spLocks xmlns:a="http://schemas.openxmlformats.org/drawingml/2006/main" noGrp="1"/>
          </p:cNvSpPr>
          <p:nvPr/>
        </p:nvSpPr>
        <p:spPr>
          <a:xfrm xmlns:a="http://schemas.openxmlformats.org/drawingml/2006/main">
            <a:off x="609600" y="3771900"/>
            <a:ext cx="5143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2F7FA"/>
                </a:solidFill>
                <a:latin typeface="Arial"/>
                <a:ea typeface="Arial"/>
                <a:cs typeface="Arial"/>
              </a:defRPr>
            </a:pPr>
            <a:r>
              <a:rPr sz="2025" b="0">
                <a:solidFill>
                  <a:srgbClr val="F2F7FA"/>
                </a:solidFill>
                <a:latin typeface="Arial"/>
                <a:ea typeface="Arial"/>
                <a:cs typeface="Arial"/>
              </a:rPr>
              <a:t>1.48 kW measured solar</a:t>
            </a:r>
          </a:p>
          <a:p xmlns:a="http://schemas.openxmlformats.org/drawingml/2006/main">
            <a:pPr>
              <a:defRPr sz="2025" b="0">
                <a:solidFill>
                  <a:srgbClr val="F2F7FA"/>
                </a:solidFill>
                <a:latin typeface="Arial"/>
                <a:ea typeface="Arial"/>
                <a:cs typeface="Arial"/>
              </a:defRPr>
            </a:pPr>
            <a:r>
              <a:rPr sz="2025" b="0">
                <a:solidFill>
                  <a:srgbClr val="F2F7FA"/>
                </a:solidFill>
                <a:latin typeface="Arial"/>
                <a:ea typeface="Arial"/>
                <a:cs typeface="Arial"/>
              </a:rPr>
              <a:t>0.858 kW measured load</a:t>
            </a:r>
          </a:p>
          <a:p xmlns:a="http://schemas.openxmlformats.org/drawingml/2006/main">
            <a:pPr>
              <a:defRPr sz="2025" b="0">
                <a:solidFill>
                  <a:srgbClr val="F2F7FA"/>
                </a:solidFill>
                <a:latin typeface="Arial"/>
                <a:ea typeface="Arial"/>
                <a:cs typeface="Arial"/>
              </a:defRPr>
            </a:pPr>
            <a:r>
              <a:rPr sz="2025" b="0">
                <a:solidFill>
                  <a:srgbClr val="F2F7FA"/>
                </a:solidFill>
                <a:latin typeface="Arial"/>
                <a:ea typeface="Arial"/>
                <a:cs typeface="Arial"/>
              </a:rPr>
              <a:t>392.9 V battery / 305.2 V floor</a:t>
            </a:r>
          </a:p>
        </p:txBody>
      </p:sp>
      <p:sp>
        <p:nvSpPr>
          <p:cNvPr id="8" name="">
            <a:extLst xmlns:a="http://schemas.openxmlformats.org/drawingml/2006/main">
              <a:ext uri="{FF2B5EF4-FFF2-40B4-BE49-F238E27FC236}">
                <a16:creationId xmlns:a16="http://schemas.microsoft.com/office/drawing/2014/main" id="{2EA00E39-80CC-4479-B266-EB24C34EC350}"/>
              </a:ext>
            </a:extLst>
          </p:cNvPr>
          <p:cNvSpPr>
            <a:spLocks xmlns:a="http://schemas.openxmlformats.org/drawingml/2006/main" noGrp="1"/>
          </p:cNvSpPr>
          <p:nvPr/>
        </p:nvSpPr>
        <p:spPr>
          <a:xfrm xmlns:a="http://schemas.openxmlformats.org/drawingml/2006/main">
            <a:off x="6477000" y="31813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E8B362"/>
                </a:solidFill>
                <a:latin typeface="Arial"/>
                <a:ea typeface="Arial"/>
                <a:cs typeface="Arial"/>
              </a:defRPr>
            </a:pPr>
            <a:r>
              <a:rPr sz="2175" b="1">
                <a:solidFill>
                  <a:srgbClr val="E8B362"/>
                </a:solidFill>
                <a:latin typeface="Arial"/>
                <a:ea typeface="Arial"/>
                <a:cs typeface="Arial"/>
              </a:rPr>
              <a:t>What still needs judgment</a:t>
            </a:r>
          </a:p>
        </p:txBody>
      </p:sp>
      <p:sp>
        <p:nvSpPr>
          <p:cNvPr id="9" name="">
            <a:extLst xmlns:a="http://schemas.openxmlformats.org/drawingml/2006/main">
              <a:ext uri="{FF2B5EF4-FFF2-40B4-BE49-F238E27FC236}">
                <a16:creationId xmlns:a16="http://schemas.microsoft.com/office/drawing/2014/main" id="{F264EE3E-DDC8-4B56-B6C8-286CD51E1186}"/>
              </a:ext>
            </a:extLst>
          </p:cNvPr>
          <p:cNvSpPr>
            <a:spLocks xmlns:a="http://schemas.openxmlformats.org/drawingml/2006/main" noGrp="1"/>
          </p:cNvSpPr>
          <p:nvPr/>
        </p:nvSpPr>
        <p:spPr>
          <a:xfrm xmlns:a="http://schemas.openxmlformats.org/drawingml/2006/main">
            <a:off x="6477000" y="3771900"/>
            <a:ext cx="5095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Synthetic weather and constant demand</a:t>
            </a:r>
          </a:p>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No battery discharge or equipment commands</a:t>
            </a:r>
          </a:p>
          <a:p xmlns:a="http://schemas.openxmlformats.org/drawingml/2006/main">
            <a:pPr>
              <a:defRPr sz="1950" b="0">
                <a:solidFill>
                  <a:srgbClr val="F2F7FA"/>
                </a:solidFill>
                <a:latin typeface="Arial"/>
                <a:ea typeface="Arial"/>
                <a:cs typeface="Arial"/>
              </a:defRPr>
            </a:pPr>
            <a:r>
              <a:rPr sz="1950" b="0">
                <a:solidFill>
                  <a:srgbClr val="F2F7FA"/>
                </a:solidFill>
                <a:latin typeface="Arial"/>
                <a:ea typeface="Arial"/>
                <a:cs typeface="Arial"/>
              </a:rPr>
              <a:t>Forecast accuracy remains unproven</a:t>
            </a:r>
          </a:p>
        </p:txBody>
      </p:sp>
      <p:sp>
        <p:nvSpPr>
          <p:cNvPr id="10" name="">
            <a:extLst xmlns:a="http://schemas.openxmlformats.org/drawingml/2006/main">
              <a:ext uri="{FF2B5EF4-FFF2-40B4-BE49-F238E27FC236}">
                <a16:creationId xmlns:a16="http://schemas.microsoft.com/office/drawing/2014/main" id="{45AF5D49-CD27-4547-A238-3C8D6CA15CD7}"/>
              </a:ext>
            </a:extLst>
          </p:cNvPr>
          <p:cNvSpPr>
            <a:spLocks xmlns:a="http://schemas.openxmlformats.org/drawingml/2006/main" noGrp="1"/>
          </p:cNvSpPr>
          <p:nvPr/>
        </p:nvSpPr>
        <p:spPr>
          <a:xfrm xmlns:a="http://schemas.openxmlformats.org/drawingml/2006/main">
            <a:off x="609600" y="5619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82D4E5"/>
                </a:solidFill>
                <a:latin typeface="Arial"/>
                <a:ea typeface="Arial"/>
                <a:cs typeface="Arial"/>
              </a:defRPr>
            </a:pPr>
            <a:r>
              <a:rPr sz="2025" b="1">
                <a:solidFill>
                  <a:srgbClr val="82D4E5"/>
                </a:solidFill>
                <a:latin typeface="Arial"/>
                <a:ea typeface="Arial"/>
                <a:cs typeface="Arial"/>
              </a:rPr>
              <a:t>Inspect this run</a:t>
            </a:r>
          </a:p>
        </p:txBody>
      </p:sp>
      <p:sp>
        <p:nvSpPr>
          <p:cNvPr id="11" name="">
            <a:extLst xmlns:a="http://schemas.openxmlformats.org/drawingml/2006/main">
              <a:ext uri="{FF2B5EF4-FFF2-40B4-BE49-F238E27FC236}">
                <a16:creationId xmlns:a16="http://schemas.microsoft.com/office/drawing/2014/main" id="{EC2854DE-A010-4145-A963-9D47A3BF5F74}"/>
              </a:ext>
            </a:extLst>
          </p:cNvPr>
          <p:cNvSpPr>
            <a:spLocks xmlns:a="http://schemas.openxmlformats.org/drawingml/2006/main" noGrp="1"/>
          </p:cNvSpPr>
          <p:nvPr/>
        </p:nvSpPr>
        <p:spPr>
          <a:xfrm xmlns:a="http://schemas.openxmlformats.org/drawingml/2006/main">
            <a:off x="609600" y="60388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2F7FA"/>
                </a:solidFill>
                <a:latin typeface="Arial"/>
                <a:ea typeface="Arial"/>
                <a:cs typeface="Arial"/>
              </a:defRPr>
            </a:pPr>
            <a:r>
              <a:rPr sz="2025" b="0">
                <a:solidFill>
                  <a:srgbClr val="F2F7FA"/>
                </a:solidFill>
                <a:latin typeface="Arial"/>
                <a:ea typeface="Arial"/>
                <a:cs typeface="Arial"/>
              </a:rPr>
              <a:t>Saved details share one episode. Health checks the current service.</a:t>
            </a:r>
          </a:p>
        </p:txBody>
      </p:sp>
    </p:spTree>
    <p:extLst>
      <p:ext uri="{BB962C8B-B14F-4D97-AF65-F5344CB8AC3E}">
        <p14:creationId xmlns:p14="http://schemas.microsoft.com/office/powerpoint/2010/main" val="601007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2026-09-07T23:52:17.2340000Z</dcterms:created>
  <dcterms:modified xsi:type="dcterms:W3CDTF">2026-09-07T23:52:17.2340000Z</dcterms:modified>
</coreProperties>
</file>